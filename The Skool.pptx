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7868"/>
    <a:srgbClr val="E95731"/>
    <a:srgbClr val="8A92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6E7868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C67-4D93-9A7F-98361F470D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Data/IT (220)</c:v>
                </c:pt>
                <c:pt idx="1">
                  <c:v>Ekonomi &amp; försäljning (239)</c:v>
                </c:pt>
                <c:pt idx="2">
                  <c:v>Samhällsbyggnad (180)</c:v>
                </c:pt>
                <c:pt idx="3">
                  <c:v>Kultur &amp; media (52)</c:v>
                </c:pt>
                <c:pt idx="4">
                  <c:v>Säkerhetstjänster(27)</c:v>
                </c:pt>
                <c:pt idx="5">
                  <c:v>Hotell &amp; turism (33)</c:v>
                </c:pt>
                <c:pt idx="6">
                  <c:v>Lantbruk &amp; djurvård (45)</c:v>
                </c:pt>
                <c:pt idx="7">
                  <c:v>Teknik &amp; tillverkning (220)</c:v>
                </c:pt>
                <c:pt idx="8">
                  <c:v>Hälso- &amp; sjukvård (127)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0.14000000000000001</c:v>
                </c:pt>
                <c:pt idx="1">
                  <c:v>0.36</c:v>
                </c:pt>
                <c:pt idx="2">
                  <c:v>0.39</c:v>
                </c:pt>
                <c:pt idx="3">
                  <c:v>0.39</c:v>
                </c:pt>
                <c:pt idx="4">
                  <c:v>0.41</c:v>
                </c:pt>
                <c:pt idx="5">
                  <c:v>0.46</c:v>
                </c:pt>
                <c:pt idx="6">
                  <c:v>0.51</c:v>
                </c:pt>
                <c:pt idx="7">
                  <c:v>0.53</c:v>
                </c:pt>
                <c:pt idx="8">
                  <c:v>0.54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67-4D93-9A7F-98361F470D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872640560"/>
        <c:axId val="1935834384"/>
      </c:barChart>
      <c:catAx>
        <c:axId val="1872640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ln w="3175" cmpd="sng">
                  <a:solidFill>
                    <a:schemeClr val="tx1">
                      <a:alpha val="70000"/>
                    </a:schemeClr>
                  </a:solidFill>
                </a:ln>
                <a:gradFill flip="none" rotWithShape="1">
                  <a:gsLst>
                    <a:gs pos="0">
                      <a:schemeClr val="accent5">
                        <a:lumMod val="40000"/>
                        <a:lumOff val="60000"/>
                      </a:schemeClr>
                    </a:gs>
                    <a:gs pos="46000">
                      <a:schemeClr val="accent5">
                        <a:lumMod val="95000"/>
                        <a:lumOff val="5000"/>
                      </a:schemeClr>
                    </a:gs>
                    <a:gs pos="100000">
                      <a:schemeClr val="accent5">
                        <a:lumMod val="60000"/>
                      </a:schemeClr>
                    </a:gs>
                  </a:gsLst>
                  <a:path path="circle">
                    <a:fillToRect l="50000" t="130000" r="50000" b="-30000"/>
                  </a:path>
                  <a:tileRect/>
                </a:gradFill>
                <a:latin typeface="+mn-lt"/>
                <a:ea typeface="+mn-ea"/>
                <a:cs typeface="+mn-cs"/>
              </a:defRPr>
            </a:pPr>
            <a:endParaRPr lang="en-SE"/>
          </a:p>
        </c:txPr>
        <c:crossAx val="1935834384"/>
        <c:crosses val="autoZero"/>
        <c:auto val="1"/>
        <c:lblAlgn val="ctr"/>
        <c:lblOffset val="100"/>
        <c:noMultiLvlLbl val="0"/>
      </c:catAx>
      <c:valAx>
        <c:axId val="19358343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SE"/>
          </a:p>
        </c:txPr>
        <c:crossAx val="1872640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S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8A9285"/>
              </a:solidFill>
              <a:latin typeface="+mn-lt"/>
              <a:ea typeface="+mn-ea"/>
              <a:cs typeface="+mn-cs"/>
            </a:defRPr>
          </a:pPr>
          <a:endParaRPr lang="en-SE"/>
        </a:p>
      </c:txPr>
    </c:title>
    <c:autoTitleDeleted val="0"/>
    <c:plotArea>
      <c:layout>
        <c:manualLayout>
          <c:layoutTarget val="inner"/>
          <c:xMode val="edge"/>
          <c:yMode val="edge"/>
          <c:x val="0.24953764763779526"/>
          <c:y val="0.10562117952625619"/>
          <c:w val="0.72394672736220478"/>
          <c:h val="0.8305819493982560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Beviljandegrad</c:v>
                </c:pt>
              </c:strCache>
            </c:strRef>
          </c:tx>
          <c:spPr>
            <a:solidFill>
              <a:srgbClr val="6E7868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E95731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ln>
                      <a:solidFill>
                        <a:schemeClr val="tx1">
                          <a:alpha val="70000"/>
                        </a:schemeClr>
                      </a:solidFill>
                    </a:ln>
                    <a:solidFill>
                      <a:srgbClr val="8A9285"/>
                    </a:solidFill>
                    <a:latin typeface="+mn-lt"/>
                    <a:ea typeface="+mn-ea"/>
                    <a:cs typeface="+mn-cs"/>
                  </a:defRPr>
                </a:pPr>
                <a:endParaRPr lang="en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3"/>
                <c:pt idx="0">
                  <c:v>Västmanland (22)</c:v>
                </c:pt>
                <c:pt idx="1">
                  <c:v>Stockholm (273)</c:v>
                </c:pt>
                <c:pt idx="2">
                  <c:v>Västerbotten (28)</c:v>
                </c:pt>
                <c:pt idx="3">
                  <c:v>Skåne (118)</c:v>
                </c:pt>
                <c:pt idx="4">
                  <c:v>Gävleborg (15)</c:v>
                </c:pt>
                <c:pt idx="5">
                  <c:v>Örebro (17)</c:v>
                </c:pt>
                <c:pt idx="6">
                  <c:v>Norrbotten (17)</c:v>
                </c:pt>
                <c:pt idx="7">
                  <c:v>Västra Götaland (203)</c:v>
                </c:pt>
                <c:pt idx="8">
                  <c:v>Jönköping (38)</c:v>
                </c:pt>
                <c:pt idx="9">
                  <c:v>Östergötland (35)</c:v>
                </c:pt>
                <c:pt idx="10">
                  <c:v>Västernorrland (17)</c:v>
                </c:pt>
                <c:pt idx="11">
                  <c:v>Kronoberg (15)</c:v>
                </c:pt>
                <c:pt idx="12">
                  <c:v>Värmland (17)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0.23</c:v>
                </c:pt>
                <c:pt idx="1">
                  <c:v>0.33</c:v>
                </c:pt>
                <c:pt idx="2">
                  <c:v>0.36</c:v>
                </c:pt>
                <c:pt idx="3">
                  <c:v>0.38</c:v>
                </c:pt>
                <c:pt idx="4">
                  <c:v>0.4</c:v>
                </c:pt>
                <c:pt idx="5">
                  <c:v>0.41</c:v>
                </c:pt>
                <c:pt idx="6">
                  <c:v>0.41</c:v>
                </c:pt>
                <c:pt idx="7">
                  <c:v>0.44</c:v>
                </c:pt>
                <c:pt idx="8">
                  <c:v>0.5</c:v>
                </c:pt>
                <c:pt idx="9">
                  <c:v>0.51</c:v>
                </c:pt>
                <c:pt idx="10">
                  <c:v>0.59</c:v>
                </c:pt>
                <c:pt idx="11">
                  <c:v>0.67</c:v>
                </c:pt>
                <c:pt idx="12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DB-4860-9DF7-8AF7BC0D10D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872599264"/>
        <c:axId val="1935813744"/>
      </c:barChart>
      <c:catAx>
        <c:axId val="18725992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700" b="0" i="0" u="none" strike="noStrike" kern="1200" baseline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8A9285"/>
                </a:solidFill>
                <a:latin typeface="+mn-lt"/>
                <a:ea typeface="+mn-ea"/>
                <a:cs typeface="+mn-cs"/>
              </a:defRPr>
            </a:pPr>
            <a:endParaRPr lang="en-SE"/>
          </a:p>
        </c:txPr>
        <c:crossAx val="1935813744"/>
        <c:crosses val="autoZero"/>
        <c:auto val="1"/>
        <c:lblAlgn val="ctr"/>
        <c:lblOffset val="100"/>
        <c:noMultiLvlLbl val="0"/>
      </c:catAx>
      <c:valAx>
        <c:axId val="1935813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8A9285"/>
                </a:solidFill>
                <a:latin typeface="+mn-lt"/>
                <a:ea typeface="+mn-ea"/>
                <a:cs typeface="+mn-cs"/>
              </a:defRPr>
            </a:pPr>
            <a:endParaRPr lang="en-SE"/>
          </a:p>
        </c:txPr>
        <c:crossAx val="1872599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tx1">
                <a:alpha val="70000"/>
              </a:schemeClr>
            </a:solidFill>
          </a:ln>
          <a:solidFill>
            <a:srgbClr val="8A9285"/>
          </a:solidFill>
        </a:defRPr>
      </a:pPr>
      <a:endParaRPr lang="en-S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Platsbunden</c:v>
                </c:pt>
              </c:strCache>
            </c:strRef>
          </c:tx>
          <c:spPr>
            <a:solidFill>
              <a:srgbClr val="6E786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Alla</c:v>
                </c:pt>
                <c:pt idx="1">
                  <c:v>Utom Data/IT</c:v>
                </c:pt>
                <c:pt idx="2">
                  <c:v>Data/IT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0.43</c:v>
                </c:pt>
                <c:pt idx="1">
                  <c:v>0.52</c:v>
                </c:pt>
                <c:pt idx="2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AC-490E-B11F-61E9CECE7A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Distans</c:v>
                </c:pt>
              </c:strCache>
            </c:strRef>
          </c:tx>
          <c:spPr>
            <a:solidFill>
              <a:srgbClr val="E9573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Alla</c:v>
                </c:pt>
                <c:pt idx="1">
                  <c:v>Utom Data/IT</c:v>
                </c:pt>
                <c:pt idx="2">
                  <c:v>Data/IT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0.35</c:v>
                </c:pt>
                <c:pt idx="1">
                  <c:v>0.38</c:v>
                </c:pt>
                <c:pt idx="2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AC-490E-B11F-61E9CECE7A4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72583488"/>
        <c:axId val="1935792144"/>
      </c:barChart>
      <c:catAx>
        <c:axId val="1872583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SE"/>
          </a:p>
        </c:txPr>
        <c:crossAx val="1935792144"/>
        <c:crosses val="autoZero"/>
        <c:auto val="1"/>
        <c:lblAlgn val="ctr"/>
        <c:lblOffset val="100"/>
        <c:noMultiLvlLbl val="0"/>
      </c:catAx>
      <c:valAx>
        <c:axId val="1935792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SE"/>
          </a:p>
        </c:txPr>
        <c:crossAx val="18725834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S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S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Privat</c:v>
                </c:pt>
              </c:strCache>
            </c:strRef>
          </c:tx>
          <c:spPr>
            <a:solidFill>
              <a:srgbClr val="E9573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6"/>
                <c:pt idx="0">
                  <c:v>Data/IT</c:v>
                </c:pt>
                <c:pt idx="1">
                  <c:v>Samhällsbyggnad</c:v>
                </c:pt>
                <c:pt idx="2">
                  <c:v>Ekonomi &amp; försäljning</c:v>
                </c:pt>
                <c:pt idx="3">
                  <c:v>Lantbruk &amp; djurvård</c:v>
                </c:pt>
                <c:pt idx="4">
                  <c:v>Teknik &amp; tillverkning</c:v>
                </c:pt>
                <c:pt idx="5">
                  <c:v>Hälso- &amp; sjukvård</c:v>
                </c:pt>
              </c:strCache>
            </c:strRef>
          </c:cat>
          <c:val>
            <c:numRef>
              <c:f>Sheet1!$B$2:$B$8</c:f>
              <c:numCache>
                <c:formatCode>0%</c:formatCode>
                <c:ptCount val="7"/>
                <c:pt idx="0">
                  <c:v>0.13</c:v>
                </c:pt>
                <c:pt idx="1">
                  <c:v>0.4</c:v>
                </c:pt>
                <c:pt idx="2">
                  <c:v>0.36</c:v>
                </c:pt>
                <c:pt idx="3">
                  <c:v>0.5</c:v>
                </c:pt>
                <c:pt idx="4">
                  <c:v>0.49</c:v>
                </c:pt>
                <c:pt idx="5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C4-4D2E-8E2A-995A0DE73A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Kommun</c:v>
                </c:pt>
              </c:strCache>
            </c:strRef>
          </c:tx>
          <c:spPr>
            <a:solidFill>
              <a:srgbClr val="6E786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6"/>
                <c:pt idx="0">
                  <c:v>Data/IT</c:v>
                </c:pt>
                <c:pt idx="1">
                  <c:v>Samhällsbyggnad</c:v>
                </c:pt>
                <c:pt idx="2">
                  <c:v>Ekonomi &amp; försäljning</c:v>
                </c:pt>
                <c:pt idx="3">
                  <c:v>Lantbruk &amp; djurvård</c:v>
                </c:pt>
                <c:pt idx="4">
                  <c:v>Teknik &amp; tillverkning</c:v>
                </c:pt>
                <c:pt idx="5">
                  <c:v>Hälso- &amp; sjukvård</c:v>
                </c:pt>
              </c:strCache>
            </c:strRef>
          </c:cat>
          <c:val>
            <c:numRef>
              <c:f>Sheet1!$C$2:$C$8</c:f>
              <c:numCache>
                <c:formatCode>0%</c:formatCode>
                <c:ptCount val="7"/>
                <c:pt idx="0">
                  <c:v>0.31</c:v>
                </c:pt>
                <c:pt idx="1">
                  <c:v>0.33</c:v>
                </c:pt>
                <c:pt idx="2">
                  <c:v>0.37</c:v>
                </c:pt>
                <c:pt idx="3">
                  <c:v>0.6</c:v>
                </c:pt>
                <c:pt idx="4">
                  <c:v>0.71</c:v>
                </c:pt>
                <c:pt idx="5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C4-4D2E-8E2A-995A0DE73A9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872539872"/>
        <c:axId val="1935860784"/>
      </c:barChart>
      <c:catAx>
        <c:axId val="18725398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ln>
                  <a:solidFill>
                    <a:schemeClr val="tx1">
                      <a:alpha val="60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SE"/>
          </a:p>
        </c:txPr>
        <c:crossAx val="1935860784"/>
        <c:crosses val="autoZero"/>
        <c:auto val="1"/>
        <c:lblAlgn val="ctr"/>
        <c:lblOffset val="100"/>
        <c:noMultiLvlLbl val="0"/>
      </c:catAx>
      <c:valAx>
        <c:axId val="19358607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SE"/>
          </a:p>
        </c:txPr>
        <c:crossAx val="1872539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S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S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6E7868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E95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D1C-457A-BEBE-3924938A41B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5"/>
                <c:pt idx="0">
                  <c:v>1 start (7)</c:v>
                </c:pt>
                <c:pt idx="1">
                  <c:v>2 starter (43)</c:v>
                </c:pt>
                <c:pt idx="2">
                  <c:v>3 starter (721)</c:v>
                </c:pt>
                <c:pt idx="3">
                  <c:v>4 starter (170)</c:v>
                </c:pt>
                <c:pt idx="4">
                  <c:v>5 starter (242)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0.14000000000000001</c:v>
                </c:pt>
                <c:pt idx="1">
                  <c:v>0.14000000000000001</c:v>
                </c:pt>
                <c:pt idx="2">
                  <c:v>0.33</c:v>
                </c:pt>
                <c:pt idx="3">
                  <c:v>0.57999999999999996</c:v>
                </c:pt>
                <c:pt idx="4">
                  <c:v>0.49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1C-457A-BEBE-3924938A41B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72623392"/>
        <c:axId val="1935830544"/>
      </c:barChart>
      <c:catAx>
        <c:axId val="1872623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SE"/>
          </a:p>
        </c:txPr>
        <c:crossAx val="1935830544"/>
        <c:crosses val="autoZero"/>
        <c:auto val="1"/>
        <c:lblAlgn val="ctr"/>
        <c:lblOffset val="100"/>
        <c:noMultiLvlLbl val="0"/>
      </c:catAx>
      <c:valAx>
        <c:axId val="1935830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SE"/>
          </a:p>
        </c:txPr>
        <c:crossAx val="1872623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S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9094363542151331"/>
          <c:y val="2.8124998269869694E-2"/>
          <c:w val="0.48112690196996988"/>
          <c:h val="0.9057343807988200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Nischer</c:v>
                </c:pt>
              </c:strCache>
            </c:strRef>
          </c:tx>
          <c:spPr>
            <a:solidFill>
              <a:srgbClr val="6E786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Sjukvård (10)</c:v>
                </c:pt>
                <c:pt idx="1">
                  <c:v>Elkonstruktör (10)</c:v>
                </c:pt>
                <c:pt idx="2">
                  <c:v>Produktionsledare (8)</c:v>
                </c:pt>
                <c:pt idx="3">
                  <c:v>Underhållstekniker (12)</c:v>
                </c:pt>
                <c:pt idx="4">
                  <c:v>Vidareutb. Undersköterskor - äldreomsorg (14)</c:v>
                </c:pt>
                <c:pt idx="5">
                  <c:v>Tandsköterska (17)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0.6</c:v>
                </c:pt>
                <c:pt idx="1">
                  <c:v>0.6</c:v>
                </c:pt>
                <c:pt idx="2">
                  <c:v>0.63</c:v>
                </c:pt>
                <c:pt idx="3">
                  <c:v>0.75</c:v>
                </c:pt>
                <c:pt idx="4">
                  <c:v>0.86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48-4D48-9453-AD2CB5882D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355614784"/>
        <c:axId val="1935900624"/>
      </c:barChart>
      <c:catAx>
        <c:axId val="1355614784"/>
        <c:scaling>
          <c:orientation val="minMax"/>
        </c:scaling>
        <c:delete val="0"/>
        <c:axPos val="l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t" anchorCtr="0"/>
          <a:lstStyle/>
          <a:p>
            <a:pPr>
              <a:defRPr sz="1600" b="0" i="0" u="none" strike="noStrike" kern="1200" baseline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SE"/>
          </a:p>
        </c:txPr>
        <c:crossAx val="1935900624"/>
        <c:crosses val="autoZero"/>
        <c:auto val="1"/>
        <c:lblAlgn val="ctr"/>
        <c:lblOffset val="100"/>
        <c:noMultiLvlLbl val="0"/>
      </c:catAx>
      <c:valAx>
        <c:axId val="19359006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SE"/>
          </a:p>
        </c:txPr>
        <c:crossAx val="1355614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S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6E786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2"/>
                <c:pt idx="0">
                  <c:v>Jensen Education School (29)</c:v>
                </c:pt>
                <c:pt idx="1">
                  <c:v>Lernia (29)</c:v>
                </c:pt>
                <c:pt idx="2">
                  <c:v>KYH (22)</c:v>
                </c:pt>
                <c:pt idx="3">
                  <c:v>Företagsekon. Inst. (20)</c:v>
                </c:pt>
                <c:pt idx="4">
                  <c:v>John Ericsson Institutet (20)</c:v>
                </c:pt>
                <c:pt idx="5">
                  <c:v>Kompetensutv.inst. (21)</c:v>
                </c:pt>
                <c:pt idx="6">
                  <c:v>Plushögskolan Teknik (20)</c:v>
                </c:pt>
                <c:pt idx="7">
                  <c:v>Medieinstitutet (24)</c:v>
                </c:pt>
                <c:pt idx="8">
                  <c:v>Yrgo (20)</c:v>
                </c:pt>
                <c:pt idx="9">
                  <c:v>YH akademin (43)</c:v>
                </c:pt>
                <c:pt idx="10">
                  <c:v>Nackademin  (23)</c:v>
                </c:pt>
                <c:pt idx="11">
                  <c:v>TUC Sweden (37)</c:v>
                </c:pt>
              </c:strCache>
            </c:strRef>
          </c:cat>
          <c:val>
            <c:numRef>
              <c:f>Sheet1!$B$2:$B$14</c:f>
              <c:numCache>
                <c:formatCode>0%</c:formatCode>
                <c:ptCount val="13"/>
                <c:pt idx="0">
                  <c:v>0.03</c:v>
                </c:pt>
                <c:pt idx="1">
                  <c:v>0.21</c:v>
                </c:pt>
                <c:pt idx="2">
                  <c:v>0.23</c:v>
                </c:pt>
                <c:pt idx="3">
                  <c:v>0.25</c:v>
                </c:pt>
                <c:pt idx="4">
                  <c:v>0.3</c:v>
                </c:pt>
                <c:pt idx="5">
                  <c:v>0.38</c:v>
                </c:pt>
                <c:pt idx="6">
                  <c:v>0.4</c:v>
                </c:pt>
                <c:pt idx="7">
                  <c:v>0.42</c:v>
                </c:pt>
                <c:pt idx="8">
                  <c:v>0.55000000000000004</c:v>
                </c:pt>
                <c:pt idx="9">
                  <c:v>0.61</c:v>
                </c:pt>
                <c:pt idx="10">
                  <c:v>0.65</c:v>
                </c:pt>
                <c:pt idx="11">
                  <c:v>0.76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8B-4305-A51D-88BD0FDD8C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39633008"/>
        <c:axId val="1935870864"/>
      </c:barChart>
      <c:catAx>
        <c:axId val="123963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ln>
                  <a:solidFill>
                    <a:schemeClr val="bg2">
                      <a:lumMod val="10000"/>
                      <a:alpha val="70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SE"/>
          </a:p>
        </c:txPr>
        <c:crossAx val="1935870864"/>
        <c:crosses val="autoZero"/>
        <c:auto val="1"/>
        <c:lblAlgn val="ctr"/>
        <c:lblOffset val="100"/>
        <c:noMultiLvlLbl val="0"/>
      </c:catAx>
      <c:valAx>
        <c:axId val="19358708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SE"/>
          </a:p>
        </c:txPr>
        <c:crossAx val="1239633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S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5A0381-7792-46E6-8D92-F0C647CF9597}" type="doc">
      <dgm:prSet loTypeId="urn:microsoft.com/office/officeart/2005/8/layout/hierarchy3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33D9E458-B7C3-41F8-9386-0CA8EBB5E60A}">
      <dgm:prSet/>
      <dgm:spPr/>
      <dgm:t>
        <a:bodyPr/>
        <a:lstStyle/>
        <a:p>
          <a:r>
            <a:rPr lang="en-US" dirty="0"/>
            <a:t>1183 </a:t>
          </a:r>
          <a:r>
            <a:rPr lang="en-US" dirty="0" err="1"/>
            <a:t>ansökningar</a:t>
          </a:r>
          <a:r>
            <a:rPr lang="en-US" dirty="0"/>
            <a:t> med </a:t>
          </a:r>
          <a:r>
            <a:rPr lang="en-US" dirty="0" err="1"/>
            <a:t>beslut</a:t>
          </a:r>
          <a:endParaRPr lang="en-US" dirty="0"/>
        </a:p>
      </dgm:t>
    </dgm:pt>
    <dgm:pt modelId="{5FDCFCB3-C9F3-400D-8A6E-0CA2F744DCFC}" type="parTrans" cxnId="{35191747-4BCB-46DF-A4BC-9E71CECF6ED6}">
      <dgm:prSet/>
      <dgm:spPr/>
      <dgm:t>
        <a:bodyPr/>
        <a:lstStyle/>
        <a:p>
          <a:endParaRPr lang="en-US"/>
        </a:p>
      </dgm:t>
    </dgm:pt>
    <dgm:pt modelId="{4DB5517B-1254-4018-976D-FDE167C7B8BE}" type="sibTrans" cxnId="{35191747-4BCB-46DF-A4BC-9E71CECF6ED6}">
      <dgm:prSet/>
      <dgm:spPr/>
      <dgm:t>
        <a:bodyPr/>
        <a:lstStyle/>
        <a:p>
          <a:endParaRPr lang="en-US"/>
        </a:p>
      </dgm:t>
    </dgm:pt>
    <dgm:pt modelId="{3F10184A-D959-48C1-8881-BA3AF20969C6}">
      <dgm:prSet/>
      <dgm:spPr/>
      <dgm:t>
        <a:bodyPr/>
        <a:lstStyle/>
        <a:p>
          <a:r>
            <a:rPr lang="en-US"/>
            <a:t>462 beviljade (39%)</a:t>
          </a:r>
        </a:p>
      </dgm:t>
    </dgm:pt>
    <dgm:pt modelId="{0C5B3601-1A75-455B-A966-9AE828BCB3AF}" type="parTrans" cxnId="{C4BD0737-2639-4D90-B767-BFB815F28A18}">
      <dgm:prSet/>
      <dgm:spPr/>
      <dgm:t>
        <a:bodyPr/>
        <a:lstStyle/>
        <a:p>
          <a:endParaRPr lang="en-US"/>
        </a:p>
      </dgm:t>
    </dgm:pt>
    <dgm:pt modelId="{11CA534F-BEA8-4DFD-A267-0CA9E6E8FCF1}" type="sibTrans" cxnId="{C4BD0737-2639-4D90-B767-BFB815F28A18}">
      <dgm:prSet/>
      <dgm:spPr/>
      <dgm:t>
        <a:bodyPr/>
        <a:lstStyle/>
        <a:p>
          <a:endParaRPr lang="en-US"/>
        </a:p>
      </dgm:t>
    </dgm:pt>
    <dgm:pt modelId="{EA524536-5256-4CC6-9D93-A456151757F0}">
      <dgm:prSet/>
      <dgm:spPr/>
      <dgm:t>
        <a:bodyPr/>
        <a:lstStyle/>
        <a:p>
          <a:r>
            <a:rPr lang="en-US"/>
            <a:t>721 avslag (61%)</a:t>
          </a:r>
        </a:p>
      </dgm:t>
    </dgm:pt>
    <dgm:pt modelId="{3F73AE3A-5DD3-4024-B166-CB544278415D}" type="parTrans" cxnId="{84F1C1D2-1D2C-4358-B5D8-721A614DCD70}">
      <dgm:prSet/>
      <dgm:spPr/>
      <dgm:t>
        <a:bodyPr/>
        <a:lstStyle/>
        <a:p>
          <a:endParaRPr lang="en-US"/>
        </a:p>
      </dgm:t>
    </dgm:pt>
    <dgm:pt modelId="{0558A69C-C9B7-4E3C-9D19-E87CBBA2CE29}" type="sibTrans" cxnId="{84F1C1D2-1D2C-4358-B5D8-721A614DCD70}">
      <dgm:prSet/>
      <dgm:spPr/>
      <dgm:t>
        <a:bodyPr/>
        <a:lstStyle/>
        <a:p>
          <a:endParaRPr lang="en-US"/>
        </a:p>
      </dgm:t>
    </dgm:pt>
    <dgm:pt modelId="{21383E7C-CA03-4267-81FB-7D3D58A408F7}" type="pres">
      <dgm:prSet presAssocID="{4B5A0381-7792-46E6-8D92-F0C647CF959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F276C5A-DE80-4CC1-8E76-F7AF2B9CD4C2}" type="pres">
      <dgm:prSet presAssocID="{33D9E458-B7C3-41F8-9386-0CA8EBB5E60A}" presName="root" presStyleCnt="0"/>
      <dgm:spPr/>
    </dgm:pt>
    <dgm:pt modelId="{3278E5C8-6680-4530-839F-864F18B154E5}" type="pres">
      <dgm:prSet presAssocID="{33D9E458-B7C3-41F8-9386-0CA8EBB5E60A}" presName="rootComposite" presStyleCnt="0"/>
      <dgm:spPr/>
    </dgm:pt>
    <dgm:pt modelId="{8ABED967-5917-4241-83BA-A3F9AE7277A8}" type="pres">
      <dgm:prSet presAssocID="{33D9E458-B7C3-41F8-9386-0CA8EBB5E60A}" presName="rootText" presStyleLbl="node1" presStyleIdx="0" presStyleCnt="3"/>
      <dgm:spPr/>
    </dgm:pt>
    <dgm:pt modelId="{B5579EC4-5199-4FF1-830C-90A3189AFE77}" type="pres">
      <dgm:prSet presAssocID="{33D9E458-B7C3-41F8-9386-0CA8EBB5E60A}" presName="rootConnector" presStyleLbl="node1" presStyleIdx="0" presStyleCnt="3"/>
      <dgm:spPr/>
    </dgm:pt>
    <dgm:pt modelId="{C024F61D-60D4-460D-AF06-3E7F7C943D0B}" type="pres">
      <dgm:prSet presAssocID="{33D9E458-B7C3-41F8-9386-0CA8EBB5E60A}" presName="childShape" presStyleCnt="0"/>
      <dgm:spPr/>
    </dgm:pt>
    <dgm:pt modelId="{D299DCB6-E088-4782-8A53-83A2EAB90C44}" type="pres">
      <dgm:prSet presAssocID="{3F10184A-D959-48C1-8881-BA3AF20969C6}" presName="root" presStyleCnt="0"/>
      <dgm:spPr/>
    </dgm:pt>
    <dgm:pt modelId="{EA93B93F-30AE-40C4-AE01-B1034F0C8E3B}" type="pres">
      <dgm:prSet presAssocID="{3F10184A-D959-48C1-8881-BA3AF20969C6}" presName="rootComposite" presStyleCnt="0"/>
      <dgm:spPr/>
    </dgm:pt>
    <dgm:pt modelId="{54AC0B09-C029-4ECD-A71A-66983199798E}" type="pres">
      <dgm:prSet presAssocID="{3F10184A-D959-48C1-8881-BA3AF20969C6}" presName="rootText" presStyleLbl="node1" presStyleIdx="1" presStyleCnt="3"/>
      <dgm:spPr/>
    </dgm:pt>
    <dgm:pt modelId="{761AFAA5-ADC6-4572-AEC0-F1CBBE5D88A0}" type="pres">
      <dgm:prSet presAssocID="{3F10184A-D959-48C1-8881-BA3AF20969C6}" presName="rootConnector" presStyleLbl="node1" presStyleIdx="1" presStyleCnt="3"/>
      <dgm:spPr/>
    </dgm:pt>
    <dgm:pt modelId="{CEE1EEA5-F478-463C-B872-85E63111CD6C}" type="pres">
      <dgm:prSet presAssocID="{3F10184A-D959-48C1-8881-BA3AF20969C6}" presName="childShape" presStyleCnt="0"/>
      <dgm:spPr/>
    </dgm:pt>
    <dgm:pt modelId="{DA8B8E87-7F94-45F9-8D88-E53EF10A19B9}" type="pres">
      <dgm:prSet presAssocID="{EA524536-5256-4CC6-9D93-A456151757F0}" presName="root" presStyleCnt="0"/>
      <dgm:spPr/>
    </dgm:pt>
    <dgm:pt modelId="{1CE06952-EAB4-41DE-B0AD-462ADD9A03C4}" type="pres">
      <dgm:prSet presAssocID="{EA524536-5256-4CC6-9D93-A456151757F0}" presName="rootComposite" presStyleCnt="0"/>
      <dgm:spPr/>
    </dgm:pt>
    <dgm:pt modelId="{48236088-CDBD-485C-9F8E-6F29ED1632E0}" type="pres">
      <dgm:prSet presAssocID="{EA524536-5256-4CC6-9D93-A456151757F0}" presName="rootText" presStyleLbl="node1" presStyleIdx="2" presStyleCnt="3"/>
      <dgm:spPr/>
    </dgm:pt>
    <dgm:pt modelId="{8CFDCBBD-A0B0-45C2-9AC0-D2A9EDAF6F6A}" type="pres">
      <dgm:prSet presAssocID="{EA524536-5256-4CC6-9D93-A456151757F0}" presName="rootConnector" presStyleLbl="node1" presStyleIdx="2" presStyleCnt="3"/>
      <dgm:spPr/>
    </dgm:pt>
    <dgm:pt modelId="{49E2FA27-EA92-4EB2-AADF-B7989C4C0BA6}" type="pres">
      <dgm:prSet presAssocID="{EA524536-5256-4CC6-9D93-A456151757F0}" presName="childShape" presStyleCnt="0"/>
      <dgm:spPr/>
    </dgm:pt>
  </dgm:ptLst>
  <dgm:cxnLst>
    <dgm:cxn modelId="{6CECBA1E-6566-4C5A-AEC4-CA6E604A535F}" type="presOf" srcId="{EA524536-5256-4CC6-9D93-A456151757F0}" destId="{8CFDCBBD-A0B0-45C2-9AC0-D2A9EDAF6F6A}" srcOrd="1" destOrd="0" presId="urn:microsoft.com/office/officeart/2005/8/layout/hierarchy3"/>
    <dgm:cxn modelId="{0475B62D-36E1-4200-A143-38A08FA9916C}" type="presOf" srcId="{EA524536-5256-4CC6-9D93-A456151757F0}" destId="{48236088-CDBD-485C-9F8E-6F29ED1632E0}" srcOrd="0" destOrd="0" presId="urn:microsoft.com/office/officeart/2005/8/layout/hierarchy3"/>
    <dgm:cxn modelId="{23F37031-07F6-4CF4-AA1E-59A9837CD183}" type="presOf" srcId="{3F10184A-D959-48C1-8881-BA3AF20969C6}" destId="{761AFAA5-ADC6-4572-AEC0-F1CBBE5D88A0}" srcOrd="1" destOrd="0" presId="urn:microsoft.com/office/officeart/2005/8/layout/hierarchy3"/>
    <dgm:cxn modelId="{C4BD0737-2639-4D90-B767-BFB815F28A18}" srcId="{4B5A0381-7792-46E6-8D92-F0C647CF9597}" destId="{3F10184A-D959-48C1-8881-BA3AF20969C6}" srcOrd="1" destOrd="0" parTransId="{0C5B3601-1A75-455B-A966-9AE828BCB3AF}" sibTransId="{11CA534F-BEA8-4DFD-A267-0CA9E6E8FCF1}"/>
    <dgm:cxn modelId="{35191747-4BCB-46DF-A4BC-9E71CECF6ED6}" srcId="{4B5A0381-7792-46E6-8D92-F0C647CF9597}" destId="{33D9E458-B7C3-41F8-9386-0CA8EBB5E60A}" srcOrd="0" destOrd="0" parTransId="{5FDCFCB3-C9F3-400D-8A6E-0CA2F744DCFC}" sibTransId="{4DB5517B-1254-4018-976D-FDE167C7B8BE}"/>
    <dgm:cxn modelId="{1380DD4C-E08D-4EBC-9224-F0CFE471FF89}" type="presOf" srcId="{3F10184A-D959-48C1-8881-BA3AF20969C6}" destId="{54AC0B09-C029-4ECD-A71A-66983199798E}" srcOrd="0" destOrd="0" presId="urn:microsoft.com/office/officeart/2005/8/layout/hierarchy3"/>
    <dgm:cxn modelId="{F3048F57-E2CB-46D1-A1B0-1D6B1E28B06C}" type="presOf" srcId="{4B5A0381-7792-46E6-8D92-F0C647CF9597}" destId="{21383E7C-CA03-4267-81FB-7D3D58A408F7}" srcOrd="0" destOrd="0" presId="urn:microsoft.com/office/officeart/2005/8/layout/hierarchy3"/>
    <dgm:cxn modelId="{84F1C1D2-1D2C-4358-B5D8-721A614DCD70}" srcId="{4B5A0381-7792-46E6-8D92-F0C647CF9597}" destId="{EA524536-5256-4CC6-9D93-A456151757F0}" srcOrd="2" destOrd="0" parTransId="{3F73AE3A-5DD3-4024-B166-CB544278415D}" sibTransId="{0558A69C-C9B7-4E3C-9D19-E87CBBA2CE29}"/>
    <dgm:cxn modelId="{4C187ADD-F62C-4250-8EBF-66759F881FC5}" type="presOf" srcId="{33D9E458-B7C3-41F8-9386-0CA8EBB5E60A}" destId="{B5579EC4-5199-4FF1-830C-90A3189AFE77}" srcOrd="1" destOrd="0" presId="urn:microsoft.com/office/officeart/2005/8/layout/hierarchy3"/>
    <dgm:cxn modelId="{7EA130F7-64FB-4868-B58E-177F37C096D5}" type="presOf" srcId="{33D9E458-B7C3-41F8-9386-0CA8EBB5E60A}" destId="{8ABED967-5917-4241-83BA-A3F9AE7277A8}" srcOrd="0" destOrd="0" presId="urn:microsoft.com/office/officeart/2005/8/layout/hierarchy3"/>
    <dgm:cxn modelId="{9571F8AF-3487-4838-BBD9-0B1DCF3ADECE}" type="presParOf" srcId="{21383E7C-CA03-4267-81FB-7D3D58A408F7}" destId="{1F276C5A-DE80-4CC1-8E76-F7AF2B9CD4C2}" srcOrd="0" destOrd="0" presId="urn:microsoft.com/office/officeart/2005/8/layout/hierarchy3"/>
    <dgm:cxn modelId="{92DE53B8-962E-46E9-9CF9-9173DD19AA36}" type="presParOf" srcId="{1F276C5A-DE80-4CC1-8E76-F7AF2B9CD4C2}" destId="{3278E5C8-6680-4530-839F-864F18B154E5}" srcOrd="0" destOrd="0" presId="urn:microsoft.com/office/officeart/2005/8/layout/hierarchy3"/>
    <dgm:cxn modelId="{F89931B0-1352-41E1-8EB5-1CA1EFBE17E2}" type="presParOf" srcId="{3278E5C8-6680-4530-839F-864F18B154E5}" destId="{8ABED967-5917-4241-83BA-A3F9AE7277A8}" srcOrd="0" destOrd="0" presId="urn:microsoft.com/office/officeart/2005/8/layout/hierarchy3"/>
    <dgm:cxn modelId="{23A323BF-C6EE-47CA-8B56-6CB909D0FAB0}" type="presParOf" srcId="{3278E5C8-6680-4530-839F-864F18B154E5}" destId="{B5579EC4-5199-4FF1-830C-90A3189AFE77}" srcOrd="1" destOrd="0" presId="urn:microsoft.com/office/officeart/2005/8/layout/hierarchy3"/>
    <dgm:cxn modelId="{5884036B-96C0-4F7E-83E1-AD8448CA9BEE}" type="presParOf" srcId="{1F276C5A-DE80-4CC1-8E76-F7AF2B9CD4C2}" destId="{C024F61D-60D4-460D-AF06-3E7F7C943D0B}" srcOrd="1" destOrd="0" presId="urn:microsoft.com/office/officeart/2005/8/layout/hierarchy3"/>
    <dgm:cxn modelId="{30464056-78C7-4ACA-BD30-195ADD003441}" type="presParOf" srcId="{21383E7C-CA03-4267-81FB-7D3D58A408F7}" destId="{D299DCB6-E088-4782-8A53-83A2EAB90C44}" srcOrd="1" destOrd="0" presId="urn:microsoft.com/office/officeart/2005/8/layout/hierarchy3"/>
    <dgm:cxn modelId="{8D45B6D2-9407-4624-ADF9-6A7EAFD62707}" type="presParOf" srcId="{D299DCB6-E088-4782-8A53-83A2EAB90C44}" destId="{EA93B93F-30AE-40C4-AE01-B1034F0C8E3B}" srcOrd="0" destOrd="0" presId="urn:microsoft.com/office/officeart/2005/8/layout/hierarchy3"/>
    <dgm:cxn modelId="{1B9EAC2A-CC8A-4126-8BDE-372ED9B4D63C}" type="presParOf" srcId="{EA93B93F-30AE-40C4-AE01-B1034F0C8E3B}" destId="{54AC0B09-C029-4ECD-A71A-66983199798E}" srcOrd="0" destOrd="0" presId="urn:microsoft.com/office/officeart/2005/8/layout/hierarchy3"/>
    <dgm:cxn modelId="{4E43E20C-E164-4523-995A-F87946E284D9}" type="presParOf" srcId="{EA93B93F-30AE-40C4-AE01-B1034F0C8E3B}" destId="{761AFAA5-ADC6-4572-AEC0-F1CBBE5D88A0}" srcOrd="1" destOrd="0" presId="urn:microsoft.com/office/officeart/2005/8/layout/hierarchy3"/>
    <dgm:cxn modelId="{2DEC64AA-73C4-49E7-8F1C-F4AF8C02AE3E}" type="presParOf" srcId="{D299DCB6-E088-4782-8A53-83A2EAB90C44}" destId="{CEE1EEA5-F478-463C-B872-85E63111CD6C}" srcOrd="1" destOrd="0" presId="urn:microsoft.com/office/officeart/2005/8/layout/hierarchy3"/>
    <dgm:cxn modelId="{4909A831-3603-4286-AF09-5235D7AC396E}" type="presParOf" srcId="{21383E7C-CA03-4267-81FB-7D3D58A408F7}" destId="{DA8B8E87-7F94-45F9-8D88-E53EF10A19B9}" srcOrd="2" destOrd="0" presId="urn:microsoft.com/office/officeart/2005/8/layout/hierarchy3"/>
    <dgm:cxn modelId="{E5B3C423-EC96-4C3A-9D89-91102FD0DE65}" type="presParOf" srcId="{DA8B8E87-7F94-45F9-8D88-E53EF10A19B9}" destId="{1CE06952-EAB4-41DE-B0AD-462ADD9A03C4}" srcOrd="0" destOrd="0" presId="urn:microsoft.com/office/officeart/2005/8/layout/hierarchy3"/>
    <dgm:cxn modelId="{DB7DB059-5EBC-43A6-8AB9-62A51E3CCBAA}" type="presParOf" srcId="{1CE06952-EAB4-41DE-B0AD-462ADD9A03C4}" destId="{48236088-CDBD-485C-9F8E-6F29ED1632E0}" srcOrd="0" destOrd="0" presId="urn:microsoft.com/office/officeart/2005/8/layout/hierarchy3"/>
    <dgm:cxn modelId="{9495E4C5-FC5F-4E05-B2CB-D406997C668A}" type="presParOf" srcId="{1CE06952-EAB4-41DE-B0AD-462ADD9A03C4}" destId="{8CFDCBBD-A0B0-45C2-9AC0-D2A9EDAF6F6A}" srcOrd="1" destOrd="0" presId="urn:microsoft.com/office/officeart/2005/8/layout/hierarchy3"/>
    <dgm:cxn modelId="{31AE5FAA-F6FE-422A-AB61-66140DA43DBA}" type="presParOf" srcId="{DA8B8E87-7F94-45F9-8D88-E53EF10A19B9}" destId="{49E2FA27-EA92-4EB2-AADF-B7989C4C0BA6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6ED7CA-00D7-4A96-A0B7-A10EBA8C91E0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SE"/>
        </a:p>
      </dgm:t>
    </dgm:pt>
    <dgm:pt modelId="{7656ECFA-9A05-4370-98F6-EED0D35177F3}">
      <dgm:prSet/>
      <dgm:spPr>
        <a:gradFill flip="none" rotWithShape="0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sv-SE" b="1" dirty="0"/>
            <a:t>Mål:</a:t>
          </a:r>
          <a:r>
            <a:rPr lang="sv-SE" dirty="0"/>
            <a:t> </a:t>
          </a:r>
        </a:p>
        <a:p>
          <a:r>
            <a:rPr lang="sv-SE" dirty="0"/>
            <a:t>2-3 godkända utbildningar som ny aktör, gärna med flera starter</a:t>
          </a:r>
        </a:p>
      </dgm:t>
    </dgm:pt>
    <dgm:pt modelId="{F43006FE-40BC-4956-A2E2-AADD05FFEA00}" type="parTrans" cxnId="{E4BD0450-2BAB-4EFF-89CA-67A23DB65ACC}">
      <dgm:prSet/>
      <dgm:spPr/>
      <dgm:t>
        <a:bodyPr/>
        <a:lstStyle/>
        <a:p>
          <a:endParaRPr lang="en-SE"/>
        </a:p>
      </dgm:t>
    </dgm:pt>
    <dgm:pt modelId="{039111A2-55C4-4862-A5CE-CD25F2B7CF65}" type="sibTrans" cxnId="{E4BD0450-2BAB-4EFF-89CA-67A23DB65ACC}">
      <dgm:prSet/>
      <dgm:spPr/>
      <dgm:t>
        <a:bodyPr/>
        <a:lstStyle/>
        <a:p>
          <a:endParaRPr lang="en-SE"/>
        </a:p>
      </dgm:t>
    </dgm:pt>
    <dgm:pt modelId="{FBFB0128-8086-41C4-B275-60D19D8DCE7C}">
      <dgm:prSet/>
      <dgm:spPr>
        <a:gradFill flip="none" rotWithShape="0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sv-SE" b="1" dirty="0"/>
            <a:t>Frågor:</a:t>
          </a:r>
        </a:p>
        <a:p>
          <a:r>
            <a:rPr lang="sv-SE" b="1" dirty="0"/>
            <a:t> </a:t>
          </a:r>
          <a:r>
            <a:rPr lang="sv-SE" dirty="0"/>
            <a:t>Vad godkänns, inom vilka områden och i vilka län?</a:t>
          </a:r>
        </a:p>
      </dgm:t>
    </dgm:pt>
    <dgm:pt modelId="{99676878-0AC0-494A-8ACB-3FED80588C06}" type="parTrans" cxnId="{DBEFAB68-B90C-4AD9-9090-FC173CCE670A}">
      <dgm:prSet/>
      <dgm:spPr/>
      <dgm:t>
        <a:bodyPr/>
        <a:lstStyle/>
        <a:p>
          <a:endParaRPr lang="en-SE"/>
        </a:p>
      </dgm:t>
    </dgm:pt>
    <dgm:pt modelId="{85B7AFD8-26C6-4376-8501-4EE136B8AD8B}" type="sibTrans" cxnId="{DBEFAB68-B90C-4AD9-9090-FC173CCE670A}">
      <dgm:prSet/>
      <dgm:spPr/>
      <dgm:t>
        <a:bodyPr/>
        <a:lstStyle/>
        <a:p>
          <a:endParaRPr lang="en-SE"/>
        </a:p>
      </dgm:t>
    </dgm:pt>
    <dgm:pt modelId="{4164D0AB-5789-476F-A0D0-B5BC32BB9542}">
      <dgm:prSet/>
      <dgm:spPr>
        <a:gradFill flip="none" rotWithShape="0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sv-SE" b="1" dirty="0"/>
            <a:t>Konkurrens: </a:t>
          </a:r>
          <a:r>
            <a:rPr lang="sv-SE" dirty="0"/>
            <a:t>beviljandegrad per område, län, sun5 och huvudman</a:t>
          </a:r>
        </a:p>
      </dgm:t>
    </dgm:pt>
    <dgm:pt modelId="{B85D9A09-65FE-4A55-B75A-829F00EEB37F}" type="parTrans" cxnId="{EED7EA77-434D-49F4-9D47-69C76A125F03}">
      <dgm:prSet/>
      <dgm:spPr/>
      <dgm:t>
        <a:bodyPr/>
        <a:lstStyle/>
        <a:p>
          <a:endParaRPr lang="en-SE"/>
        </a:p>
      </dgm:t>
    </dgm:pt>
    <dgm:pt modelId="{2E4D2E7E-590C-4428-87F6-F5AC1D274920}" type="sibTrans" cxnId="{EED7EA77-434D-49F4-9D47-69C76A125F03}">
      <dgm:prSet/>
      <dgm:spPr/>
      <dgm:t>
        <a:bodyPr/>
        <a:lstStyle/>
        <a:p>
          <a:endParaRPr lang="en-SE"/>
        </a:p>
      </dgm:t>
    </dgm:pt>
    <dgm:pt modelId="{00012C75-1CDB-41F3-83AC-2F9CE777B071}">
      <dgm:prSet/>
      <dgm:spPr>
        <a:gradFill flip="none" rotWithShape="0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sv-SE" dirty="0"/>
            <a:t>Söker enkla insteg i nischer, distans eller platsbunden</a:t>
          </a:r>
          <a:endParaRPr lang="en-SE" dirty="0"/>
        </a:p>
      </dgm:t>
    </dgm:pt>
    <dgm:pt modelId="{56B481C1-4E14-41FC-8CD1-2B9CC52C9A80}" type="parTrans" cxnId="{775E0865-556A-440F-B8D4-CA7C9181A58A}">
      <dgm:prSet/>
      <dgm:spPr/>
      <dgm:t>
        <a:bodyPr/>
        <a:lstStyle/>
        <a:p>
          <a:endParaRPr lang="en-SE"/>
        </a:p>
      </dgm:t>
    </dgm:pt>
    <dgm:pt modelId="{52BB522A-11F7-4264-A813-4B420D9F79CA}" type="sibTrans" cxnId="{775E0865-556A-440F-B8D4-CA7C9181A58A}">
      <dgm:prSet/>
      <dgm:spPr/>
      <dgm:t>
        <a:bodyPr/>
        <a:lstStyle/>
        <a:p>
          <a:endParaRPr lang="en-SE"/>
        </a:p>
      </dgm:t>
    </dgm:pt>
    <dgm:pt modelId="{0B735C90-8052-4511-B070-286BBC7E80BB}" type="pres">
      <dgm:prSet presAssocID="{7E6ED7CA-00D7-4A96-A0B7-A10EBA8C91E0}" presName="diagram" presStyleCnt="0">
        <dgm:presLayoutVars>
          <dgm:dir/>
          <dgm:resizeHandles val="exact"/>
        </dgm:presLayoutVars>
      </dgm:prSet>
      <dgm:spPr/>
    </dgm:pt>
    <dgm:pt modelId="{B5CF5ECE-C0AF-4E15-9A18-2C409A7FFAF2}" type="pres">
      <dgm:prSet presAssocID="{4164D0AB-5789-476F-A0D0-B5BC32BB9542}" presName="node" presStyleLbl="node1" presStyleIdx="0" presStyleCnt="4">
        <dgm:presLayoutVars>
          <dgm:bulletEnabled val="1"/>
        </dgm:presLayoutVars>
      </dgm:prSet>
      <dgm:spPr/>
    </dgm:pt>
    <dgm:pt modelId="{5A9C3090-7451-4CF3-8F7D-3D9A5734E38E}" type="pres">
      <dgm:prSet presAssocID="{2E4D2E7E-590C-4428-87F6-F5AC1D274920}" presName="sibTrans" presStyleCnt="0"/>
      <dgm:spPr/>
    </dgm:pt>
    <dgm:pt modelId="{E946961F-BAE1-45B0-BC7B-CF8F033C8DC0}" type="pres">
      <dgm:prSet presAssocID="{FBFB0128-8086-41C4-B275-60D19D8DCE7C}" presName="node" presStyleLbl="node1" presStyleIdx="1" presStyleCnt="4">
        <dgm:presLayoutVars>
          <dgm:bulletEnabled val="1"/>
        </dgm:presLayoutVars>
      </dgm:prSet>
      <dgm:spPr/>
    </dgm:pt>
    <dgm:pt modelId="{38E3BA9F-A245-4BF2-819B-1541FC41AF1B}" type="pres">
      <dgm:prSet presAssocID="{85B7AFD8-26C6-4376-8501-4EE136B8AD8B}" presName="sibTrans" presStyleCnt="0"/>
      <dgm:spPr/>
    </dgm:pt>
    <dgm:pt modelId="{A61C7864-5F88-47D3-8933-4E2BCB160DC9}" type="pres">
      <dgm:prSet presAssocID="{7656ECFA-9A05-4370-98F6-EED0D35177F3}" presName="node" presStyleLbl="node1" presStyleIdx="2" presStyleCnt="4">
        <dgm:presLayoutVars>
          <dgm:bulletEnabled val="1"/>
        </dgm:presLayoutVars>
      </dgm:prSet>
      <dgm:spPr/>
    </dgm:pt>
    <dgm:pt modelId="{2E425DE2-DE29-468C-80B5-A0F437D97AFD}" type="pres">
      <dgm:prSet presAssocID="{039111A2-55C4-4862-A5CE-CD25F2B7CF65}" presName="sibTrans" presStyleCnt="0"/>
      <dgm:spPr/>
    </dgm:pt>
    <dgm:pt modelId="{84A18330-C4DF-4C13-A31F-618CD2C2322D}" type="pres">
      <dgm:prSet presAssocID="{00012C75-1CDB-41F3-83AC-2F9CE777B071}" presName="node" presStyleLbl="node1" presStyleIdx="3" presStyleCnt="4">
        <dgm:presLayoutVars>
          <dgm:bulletEnabled val="1"/>
        </dgm:presLayoutVars>
      </dgm:prSet>
      <dgm:spPr/>
    </dgm:pt>
  </dgm:ptLst>
  <dgm:cxnLst>
    <dgm:cxn modelId="{90733B01-D23C-49A8-970C-16EF64D75504}" type="presOf" srcId="{7E6ED7CA-00D7-4A96-A0B7-A10EBA8C91E0}" destId="{0B735C90-8052-4511-B070-286BBC7E80BB}" srcOrd="0" destOrd="0" presId="urn:microsoft.com/office/officeart/2005/8/layout/default"/>
    <dgm:cxn modelId="{7500CD14-0593-4A83-BCF4-716FE3C98397}" type="presOf" srcId="{4164D0AB-5789-476F-A0D0-B5BC32BB9542}" destId="{B5CF5ECE-C0AF-4E15-9A18-2C409A7FFAF2}" srcOrd="0" destOrd="0" presId="urn:microsoft.com/office/officeart/2005/8/layout/default"/>
    <dgm:cxn modelId="{775E0865-556A-440F-B8D4-CA7C9181A58A}" srcId="{7E6ED7CA-00D7-4A96-A0B7-A10EBA8C91E0}" destId="{00012C75-1CDB-41F3-83AC-2F9CE777B071}" srcOrd="3" destOrd="0" parTransId="{56B481C1-4E14-41FC-8CD1-2B9CC52C9A80}" sibTransId="{52BB522A-11F7-4264-A813-4B420D9F79CA}"/>
    <dgm:cxn modelId="{DBEFAB68-B90C-4AD9-9090-FC173CCE670A}" srcId="{7E6ED7CA-00D7-4A96-A0B7-A10EBA8C91E0}" destId="{FBFB0128-8086-41C4-B275-60D19D8DCE7C}" srcOrd="1" destOrd="0" parTransId="{99676878-0AC0-494A-8ACB-3FED80588C06}" sibTransId="{85B7AFD8-26C6-4376-8501-4EE136B8AD8B}"/>
    <dgm:cxn modelId="{E4BD0450-2BAB-4EFF-89CA-67A23DB65ACC}" srcId="{7E6ED7CA-00D7-4A96-A0B7-A10EBA8C91E0}" destId="{7656ECFA-9A05-4370-98F6-EED0D35177F3}" srcOrd="2" destOrd="0" parTransId="{F43006FE-40BC-4956-A2E2-AADD05FFEA00}" sibTransId="{039111A2-55C4-4862-A5CE-CD25F2B7CF65}"/>
    <dgm:cxn modelId="{EED7EA77-434D-49F4-9D47-69C76A125F03}" srcId="{7E6ED7CA-00D7-4A96-A0B7-A10EBA8C91E0}" destId="{4164D0AB-5789-476F-A0D0-B5BC32BB9542}" srcOrd="0" destOrd="0" parTransId="{B85D9A09-65FE-4A55-B75A-829F00EEB37F}" sibTransId="{2E4D2E7E-590C-4428-87F6-F5AC1D274920}"/>
    <dgm:cxn modelId="{BE518F95-2CD2-4B4E-AA2B-D0E2372B0ED1}" type="presOf" srcId="{7656ECFA-9A05-4370-98F6-EED0D35177F3}" destId="{A61C7864-5F88-47D3-8933-4E2BCB160DC9}" srcOrd="0" destOrd="0" presId="urn:microsoft.com/office/officeart/2005/8/layout/default"/>
    <dgm:cxn modelId="{C9702EB8-C193-4051-AE3D-2E09150A6F91}" type="presOf" srcId="{FBFB0128-8086-41C4-B275-60D19D8DCE7C}" destId="{E946961F-BAE1-45B0-BC7B-CF8F033C8DC0}" srcOrd="0" destOrd="0" presId="urn:microsoft.com/office/officeart/2005/8/layout/default"/>
    <dgm:cxn modelId="{F36A4CCD-1A79-48C3-BBE8-2FF06D75D1F8}" type="presOf" srcId="{00012C75-1CDB-41F3-83AC-2F9CE777B071}" destId="{84A18330-C4DF-4C13-A31F-618CD2C2322D}" srcOrd="0" destOrd="0" presId="urn:microsoft.com/office/officeart/2005/8/layout/default"/>
    <dgm:cxn modelId="{7DF154C8-06D5-4902-A017-E5A8E866072D}" type="presParOf" srcId="{0B735C90-8052-4511-B070-286BBC7E80BB}" destId="{B5CF5ECE-C0AF-4E15-9A18-2C409A7FFAF2}" srcOrd="0" destOrd="0" presId="urn:microsoft.com/office/officeart/2005/8/layout/default"/>
    <dgm:cxn modelId="{7BF84628-D078-43FE-B749-C7530ACE9274}" type="presParOf" srcId="{0B735C90-8052-4511-B070-286BBC7E80BB}" destId="{5A9C3090-7451-4CF3-8F7D-3D9A5734E38E}" srcOrd="1" destOrd="0" presId="urn:microsoft.com/office/officeart/2005/8/layout/default"/>
    <dgm:cxn modelId="{728FAB2D-7990-43FF-92AD-F59A03E8B416}" type="presParOf" srcId="{0B735C90-8052-4511-B070-286BBC7E80BB}" destId="{E946961F-BAE1-45B0-BC7B-CF8F033C8DC0}" srcOrd="2" destOrd="0" presId="urn:microsoft.com/office/officeart/2005/8/layout/default"/>
    <dgm:cxn modelId="{523DF8AE-72B8-4CEE-9A63-478A040E00FD}" type="presParOf" srcId="{0B735C90-8052-4511-B070-286BBC7E80BB}" destId="{38E3BA9F-A245-4BF2-819B-1541FC41AF1B}" srcOrd="3" destOrd="0" presId="urn:microsoft.com/office/officeart/2005/8/layout/default"/>
    <dgm:cxn modelId="{E0C4FD91-4ACE-456B-9908-B5A6DD6610E1}" type="presParOf" srcId="{0B735C90-8052-4511-B070-286BBC7E80BB}" destId="{A61C7864-5F88-47D3-8933-4E2BCB160DC9}" srcOrd="4" destOrd="0" presId="urn:microsoft.com/office/officeart/2005/8/layout/default"/>
    <dgm:cxn modelId="{FB99EC49-9A34-4D8D-BAEF-BFFEF2BA7EEB}" type="presParOf" srcId="{0B735C90-8052-4511-B070-286BBC7E80BB}" destId="{2E425DE2-DE29-468C-80B5-A0F437D97AFD}" srcOrd="5" destOrd="0" presId="urn:microsoft.com/office/officeart/2005/8/layout/default"/>
    <dgm:cxn modelId="{74A3C08D-0C7B-4CAF-BBB9-84AE5EA7C154}" type="presParOf" srcId="{0B735C90-8052-4511-B070-286BBC7E80BB}" destId="{84A18330-C4DF-4C13-A31F-618CD2C2322D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DCBDEE-D072-4E9F-A621-DF190C65117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E"/>
        </a:p>
      </dgm:t>
    </dgm:pt>
    <dgm:pt modelId="{4B7C70DA-5DA5-4D7C-95E5-02B5A4421453}">
      <dgm:prSet phldrT="[Text]" phldr="0"/>
      <dgm:spPr>
        <a:solidFill>
          <a:srgbClr val="6E7868"/>
        </a:solidFill>
      </dgm:spPr>
      <dgm:t>
        <a:bodyPr/>
        <a:lstStyle/>
        <a:p>
          <a:r>
            <a:rPr lang="sv-SE" dirty="0"/>
            <a:t>Undvik bred Data/IT</a:t>
          </a:r>
          <a:endParaRPr lang="en-SE" dirty="0"/>
        </a:p>
      </dgm:t>
    </dgm:pt>
    <dgm:pt modelId="{7E2C6CA8-849F-4B02-AC0B-C1738AAE4C01}" type="parTrans" cxnId="{2FFC2B00-55AC-4009-926D-74105D62C7EC}">
      <dgm:prSet/>
      <dgm:spPr/>
      <dgm:t>
        <a:bodyPr/>
        <a:lstStyle/>
        <a:p>
          <a:endParaRPr lang="en-SE"/>
        </a:p>
      </dgm:t>
    </dgm:pt>
    <dgm:pt modelId="{C27D4E53-F649-495E-8BB3-981838F2C418}" type="sibTrans" cxnId="{2FFC2B00-55AC-4009-926D-74105D62C7EC}">
      <dgm:prSet/>
      <dgm:spPr/>
      <dgm:t>
        <a:bodyPr/>
        <a:lstStyle/>
        <a:p>
          <a:endParaRPr lang="en-SE"/>
        </a:p>
      </dgm:t>
    </dgm:pt>
    <dgm:pt modelId="{D5385BE2-F59F-406E-94F0-5EBDB0D1DEB2}">
      <dgm:prSet phldrT="[Text]" phldr="0"/>
      <dgm:spPr/>
      <dgm:t>
        <a:bodyPr/>
        <a:lstStyle/>
        <a:p>
          <a:r>
            <a:rPr lang="sv-SE" dirty="0"/>
            <a:t>Bara 14% beviljas. Webbutveckling och IT-projektledning: 0 av 44</a:t>
          </a:r>
          <a:endParaRPr lang="en-SE" dirty="0"/>
        </a:p>
      </dgm:t>
    </dgm:pt>
    <dgm:pt modelId="{5076B784-2D15-48D8-85A2-D6BCB2C33020}" type="parTrans" cxnId="{64CFC968-4963-47E8-A8F5-072786A0B818}">
      <dgm:prSet/>
      <dgm:spPr/>
      <dgm:t>
        <a:bodyPr/>
        <a:lstStyle/>
        <a:p>
          <a:endParaRPr lang="en-SE"/>
        </a:p>
      </dgm:t>
    </dgm:pt>
    <dgm:pt modelId="{EC0C738D-4CE9-4FBC-A3A5-C5C3D2881305}" type="sibTrans" cxnId="{64CFC968-4963-47E8-A8F5-072786A0B818}">
      <dgm:prSet/>
      <dgm:spPr/>
      <dgm:t>
        <a:bodyPr/>
        <a:lstStyle/>
        <a:p>
          <a:endParaRPr lang="en-SE"/>
        </a:p>
      </dgm:t>
    </dgm:pt>
    <dgm:pt modelId="{62FBA95F-C109-4E64-BE49-849123BBC14E}">
      <dgm:prSet phldrT="[Text]" phldr="0"/>
      <dgm:spPr>
        <a:solidFill>
          <a:srgbClr val="6E7868"/>
        </a:solidFill>
      </dgm:spPr>
      <dgm:t>
        <a:bodyPr/>
        <a:lstStyle/>
        <a:p>
          <a:r>
            <a:rPr lang="sv-SE" dirty="0"/>
            <a:t>Satsa på platsbundet inom vård, teknik och lantbruk</a:t>
          </a:r>
          <a:endParaRPr lang="en-SE" dirty="0"/>
        </a:p>
      </dgm:t>
    </dgm:pt>
    <dgm:pt modelId="{AEEEBC31-60EF-474A-B291-249E40C25CAC}" type="parTrans" cxnId="{908913E2-2B98-4A8E-95CE-FB11180A5F6A}">
      <dgm:prSet/>
      <dgm:spPr/>
      <dgm:t>
        <a:bodyPr/>
        <a:lstStyle/>
        <a:p>
          <a:endParaRPr lang="en-SE"/>
        </a:p>
      </dgm:t>
    </dgm:pt>
    <dgm:pt modelId="{802F3AF5-1A69-43B2-91A4-28148BEB6B51}" type="sibTrans" cxnId="{908913E2-2B98-4A8E-95CE-FB11180A5F6A}">
      <dgm:prSet/>
      <dgm:spPr/>
      <dgm:t>
        <a:bodyPr/>
        <a:lstStyle/>
        <a:p>
          <a:endParaRPr lang="en-SE"/>
        </a:p>
      </dgm:t>
    </dgm:pt>
    <dgm:pt modelId="{5A48B824-733E-4569-AACB-81EF75833DEE}">
      <dgm:prSet phldrT="[Text]" phldr="0"/>
      <dgm:spPr/>
      <dgm:t>
        <a:bodyPr/>
        <a:lstStyle/>
        <a:p>
          <a:r>
            <a:rPr lang="sv-SE" dirty="0"/>
            <a:t>Högst beviljandegrad bland de större områdena.</a:t>
          </a:r>
          <a:endParaRPr lang="en-SE" dirty="0"/>
        </a:p>
      </dgm:t>
    </dgm:pt>
    <dgm:pt modelId="{BB80B168-EF60-4F64-830F-6932A6E1ACD8}" type="parTrans" cxnId="{C66276A6-AFA7-4F4D-8607-6B83765F55E5}">
      <dgm:prSet/>
      <dgm:spPr/>
      <dgm:t>
        <a:bodyPr/>
        <a:lstStyle/>
        <a:p>
          <a:endParaRPr lang="en-SE"/>
        </a:p>
      </dgm:t>
    </dgm:pt>
    <dgm:pt modelId="{0FE87F00-A92E-449F-BFD5-7873A464C258}" type="sibTrans" cxnId="{C66276A6-AFA7-4F4D-8607-6B83765F55E5}">
      <dgm:prSet/>
      <dgm:spPr/>
      <dgm:t>
        <a:bodyPr/>
        <a:lstStyle/>
        <a:p>
          <a:endParaRPr lang="en-SE"/>
        </a:p>
      </dgm:t>
    </dgm:pt>
    <dgm:pt modelId="{770BFB3C-1D0D-4C0C-89FD-B70C5B350BE0}">
      <dgm:prSet phldrT="[Text]" phldr="0"/>
      <dgm:spPr>
        <a:solidFill>
          <a:srgbClr val="6E7868"/>
        </a:solidFill>
      </dgm:spPr>
      <dgm:t>
        <a:bodyPr/>
        <a:lstStyle/>
        <a:p>
          <a:r>
            <a:rPr lang="sv-SE" dirty="0"/>
            <a:t>Planera för cirka fyra starter</a:t>
          </a:r>
          <a:endParaRPr lang="en-SE" dirty="0"/>
        </a:p>
      </dgm:t>
    </dgm:pt>
    <dgm:pt modelId="{615CDA9D-82A1-42BC-B026-A9833DFE2667}" type="parTrans" cxnId="{99F50C86-2C59-4C90-A8D6-A375094F89E8}">
      <dgm:prSet/>
      <dgm:spPr/>
      <dgm:t>
        <a:bodyPr/>
        <a:lstStyle/>
        <a:p>
          <a:endParaRPr lang="en-SE"/>
        </a:p>
      </dgm:t>
    </dgm:pt>
    <dgm:pt modelId="{7A58219F-8A4B-4857-A262-7230830F5CD2}" type="sibTrans" cxnId="{99F50C86-2C59-4C90-A8D6-A375094F89E8}">
      <dgm:prSet/>
      <dgm:spPr/>
      <dgm:t>
        <a:bodyPr/>
        <a:lstStyle/>
        <a:p>
          <a:endParaRPr lang="en-SE"/>
        </a:p>
      </dgm:t>
    </dgm:pt>
    <dgm:pt modelId="{3A3204AD-6F03-42D9-9755-5FEEE4BC393B}">
      <dgm:prSet phldrT="[Text]" phldr="0"/>
      <dgm:spPr/>
      <dgm:t>
        <a:bodyPr/>
        <a:lstStyle/>
        <a:p>
          <a:r>
            <a:rPr lang="sv-SE" dirty="0"/>
            <a:t>Högst beviljandegrad  (58%) och passar målet om flera starter.</a:t>
          </a:r>
          <a:endParaRPr lang="en-SE" dirty="0"/>
        </a:p>
      </dgm:t>
    </dgm:pt>
    <dgm:pt modelId="{11BF1FBE-2306-42A1-AC0E-CDD0165D522D}" type="parTrans" cxnId="{84DC1B52-E406-4F05-B3A3-0C3102ECF123}">
      <dgm:prSet/>
      <dgm:spPr/>
      <dgm:t>
        <a:bodyPr/>
        <a:lstStyle/>
        <a:p>
          <a:endParaRPr lang="en-SE"/>
        </a:p>
      </dgm:t>
    </dgm:pt>
    <dgm:pt modelId="{9445D67B-2464-4BD3-B58D-CDE5B5FA91B6}" type="sibTrans" cxnId="{84DC1B52-E406-4F05-B3A3-0C3102ECF123}">
      <dgm:prSet/>
      <dgm:spPr/>
      <dgm:t>
        <a:bodyPr/>
        <a:lstStyle/>
        <a:p>
          <a:endParaRPr lang="en-SE"/>
        </a:p>
      </dgm:t>
    </dgm:pt>
    <dgm:pt modelId="{2FFD4C1C-6BC4-4773-835D-145ED0E3A060}">
      <dgm:prSet phldrT="[Text]" phldr="0"/>
      <dgm:spPr>
        <a:solidFill>
          <a:srgbClr val="6E7868"/>
        </a:solidFill>
      </dgm:spPr>
      <dgm:t>
        <a:bodyPr/>
        <a:lstStyle/>
        <a:p>
          <a:r>
            <a:rPr lang="sv-SE" dirty="0"/>
            <a:t>Lär av kommunala anordnare</a:t>
          </a:r>
          <a:endParaRPr lang="en-SE" dirty="0"/>
        </a:p>
      </dgm:t>
    </dgm:pt>
    <dgm:pt modelId="{9EC24E4B-BC47-41CB-B27F-FA7540CF511D}" type="parTrans" cxnId="{B5C18046-5557-4B93-AE53-0701693DF374}">
      <dgm:prSet/>
      <dgm:spPr/>
      <dgm:t>
        <a:bodyPr/>
        <a:lstStyle/>
        <a:p>
          <a:endParaRPr lang="en-SE"/>
        </a:p>
      </dgm:t>
    </dgm:pt>
    <dgm:pt modelId="{18A30C99-0FE4-4C43-86CE-907ED032E75C}" type="sibTrans" cxnId="{B5C18046-5557-4B93-AE53-0701693DF374}">
      <dgm:prSet/>
      <dgm:spPr/>
      <dgm:t>
        <a:bodyPr/>
        <a:lstStyle/>
        <a:p>
          <a:endParaRPr lang="en-SE"/>
        </a:p>
      </dgm:t>
    </dgm:pt>
    <dgm:pt modelId="{00268D5B-9189-4589-9EFC-D7F2CDF220D4}">
      <dgm:prSet phldrT="[Text]" phldr="0"/>
      <dgm:spPr/>
      <dgm:t>
        <a:bodyPr/>
        <a:lstStyle/>
        <a:p>
          <a:r>
            <a:rPr lang="sv-SE" dirty="0"/>
            <a:t>De lyckas bäst i teknik och vård</a:t>
          </a:r>
          <a:endParaRPr lang="en-SE" dirty="0"/>
        </a:p>
      </dgm:t>
    </dgm:pt>
    <dgm:pt modelId="{E60E0384-1FEC-44ED-B356-CCDF84B910C8}" type="parTrans" cxnId="{459E2F3C-EBDF-4A88-BDF6-C14B29924839}">
      <dgm:prSet/>
      <dgm:spPr/>
      <dgm:t>
        <a:bodyPr/>
        <a:lstStyle/>
        <a:p>
          <a:endParaRPr lang="en-SE"/>
        </a:p>
      </dgm:t>
    </dgm:pt>
    <dgm:pt modelId="{435379D7-3E02-488A-A928-5C74304FE40C}" type="sibTrans" cxnId="{459E2F3C-EBDF-4A88-BDF6-C14B29924839}">
      <dgm:prSet/>
      <dgm:spPr/>
      <dgm:t>
        <a:bodyPr/>
        <a:lstStyle/>
        <a:p>
          <a:endParaRPr lang="en-SE"/>
        </a:p>
      </dgm:t>
    </dgm:pt>
    <dgm:pt modelId="{BDFDCCE1-5AFE-48C0-AEF3-E9354A692D25}" type="pres">
      <dgm:prSet presAssocID="{30DCBDEE-D072-4E9F-A621-DF190C65117B}" presName="linear" presStyleCnt="0">
        <dgm:presLayoutVars>
          <dgm:animLvl val="lvl"/>
          <dgm:resizeHandles val="exact"/>
        </dgm:presLayoutVars>
      </dgm:prSet>
      <dgm:spPr/>
    </dgm:pt>
    <dgm:pt modelId="{2BBF56BD-899A-4D20-A424-668D8326E21A}" type="pres">
      <dgm:prSet presAssocID="{4B7C70DA-5DA5-4D7C-95E5-02B5A442145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D64D6D0-CC35-4BDF-A817-4CB596C2399F}" type="pres">
      <dgm:prSet presAssocID="{4B7C70DA-5DA5-4D7C-95E5-02B5A4421453}" presName="childText" presStyleLbl="revTx" presStyleIdx="0" presStyleCnt="4">
        <dgm:presLayoutVars>
          <dgm:bulletEnabled val="1"/>
        </dgm:presLayoutVars>
      </dgm:prSet>
      <dgm:spPr/>
    </dgm:pt>
    <dgm:pt modelId="{05522676-1059-4F70-BE86-56D1EF962847}" type="pres">
      <dgm:prSet presAssocID="{62FBA95F-C109-4E64-BE49-849123BBC14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EE90DA2-74B0-424F-90E8-3EC2EEEC5374}" type="pres">
      <dgm:prSet presAssocID="{62FBA95F-C109-4E64-BE49-849123BBC14E}" presName="childText" presStyleLbl="revTx" presStyleIdx="1" presStyleCnt="4">
        <dgm:presLayoutVars>
          <dgm:bulletEnabled val="1"/>
        </dgm:presLayoutVars>
      </dgm:prSet>
      <dgm:spPr/>
    </dgm:pt>
    <dgm:pt modelId="{CF0C6FB9-2D66-4364-B489-BE5CDD084808}" type="pres">
      <dgm:prSet presAssocID="{770BFB3C-1D0D-4C0C-89FD-B70C5B350BE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5CC3A47-F475-4A61-864A-AAE1D7C03A19}" type="pres">
      <dgm:prSet presAssocID="{770BFB3C-1D0D-4C0C-89FD-B70C5B350BE0}" presName="childText" presStyleLbl="revTx" presStyleIdx="2" presStyleCnt="4">
        <dgm:presLayoutVars>
          <dgm:bulletEnabled val="1"/>
        </dgm:presLayoutVars>
      </dgm:prSet>
      <dgm:spPr/>
    </dgm:pt>
    <dgm:pt modelId="{66F906D0-B632-498D-8E3F-A353DD16B239}" type="pres">
      <dgm:prSet presAssocID="{2FFD4C1C-6BC4-4773-835D-145ED0E3A06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46BE3E7-5E31-4AB1-8894-A390436DC426}" type="pres">
      <dgm:prSet presAssocID="{2FFD4C1C-6BC4-4773-835D-145ED0E3A060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2FFC2B00-55AC-4009-926D-74105D62C7EC}" srcId="{30DCBDEE-D072-4E9F-A621-DF190C65117B}" destId="{4B7C70DA-5DA5-4D7C-95E5-02B5A4421453}" srcOrd="0" destOrd="0" parTransId="{7E2C6CA8-849F-4B02-AC0B-C1738AAE4C01}" sibTransId="{C27D4E53-F649-495E-8BB3-981838F2C418}"/>
    <dgm:cxn modelId="{65D22C15-F4C2-4503-8628-CAE9EB66682B}" type="presOf" srcId="{62FBA95F-C109-4E64-BE49-849123BBC14E}" destId="{05522676-1059-4F70-BE86-56D1EF962847}" srcOrd="0" destOrd="0" presId="urn:microsoft.com/office/officeart/2005/8/layout/vList2"/>
    <dgm:cxn modelId="{459E2F3C-EBDF-4A88-BDF6-C14B29924839}" srcId="{2FFD4C1C-6BC4-4773-835D-145ED0E3A060}" destId="{00268D5B-9189-4589-9EFC-D7F2CDF220D4}" srcOrd="0" destOrd="0" parTransId="{E60E0384-1FEC-44ED-B356-CCDF84B910C8}" sibTransId="{435379D7-3E02-488A-A928-5C74304FE40C}"/>
    <dgm:cxn modelId="{9A4AC33D-A641-4B93-9C37-9D3D5723F216}" type="presOf" srcId="{30DCBDEE-D072-4E9F-A621-DF190C65117B}" destId="{BDFDCCE1-5AFE-48C0-AEF3-E9354A692D25}" srcOrd="0" destOrd="0" presId="urn:microsoft.com/office/officeart/2005/8/layout/vList2"/>
    <dgm:cxn modelId="{017C5362-5CA1-4C84-8F85-7F0012948981}" type="presOf" srcId="{2FFD4C1C-6BC4-4773-835D-145ED0E3A060}" destId="{66F906D0-B632-498D-8E3F-A353DD16B239}" srcOrd="0" destOrd="0" presId="urn:microsoft.com/office/officeart/2005/8/layout/vList2"/>
    <dgm:cxn modelId="{F6CF8E64-F447-4D75-B083-A659A517AB6E}" type="presOf" srcId="{770BFB3C-1D0D-4C0C-89FD-B70C5B350BE0}" destId="{CF0C6FB9-2D66-4364-B489-BE5CDD084808}" srcOrd="0" destOrd="0" presId="urn:microsoft.com/office/officeart/2005/8/layout/vList2"/>
    <dgm:cxn modelId="{B5C18046-5557-4B93-AE53-0701693DF374}" srcId="{30DCBDEE-D072-4E9F-A621-DF190C65117B}" destId="{2FFD4C1C-6BC4-4773-835D-145ED0E3A060}" srcOrd="3" destOrd="0" parTransId="{9EC24E4B-BC47-41CB-B27F-FA7540CF511D}" sibTransId="{18A30C99-0FE4-4C43-86CE-907ED032E75C}"/>
    <dgm:cxn modelId="{64CFC968-4963-47E8-A8F5-072786A0B818}" srcId="{4B7C70DA-5DA5-4D7C-95E5-02B5A4421453}" destId="{D5385BE2-F59F-406E-94F0-5EBDB0D1DEB2}" srcOrd="0" destOrd="0" parTransId="{5076B784-2D15-48D8-85A2-D6BCB2C33020}" sibTransId="{EC0C738D-4CE9-4FBC-A3A5-C5C3D2881305}"/>
    <dgm:cxn modelId="{948F6E71-3905-4C7E-8176-D7D09F67BE10}" type="presOf" srcId="{5A48B824-733E-4569-AACB-81EF75833DEE}" destId="{7EE90DA2-74B0-424F-90E8-3EC2EEEC5374}" srcOrd="0" destOrd="0" presId="urn:microsoft.com/office/officeart/2005/8/layout/vList2"/>
    <dgm:cxn modelId="{84DC1B52-E406-4F05-B3A3-0C3102ECF123}" srcId="{770BFB3C-1D0D-4C0C-89FD-B70C5B350BE0}" destId="{3A3204AD-6F03-42D9-9755-5FEEE4BC393B}" srcOrd="0" destOrd="0" parTransId="{11BF1FBE-2306-42A1-AC0E-CDD0165D522D}" sibTransId="{9445D67B-2464-4BD3-B58D-CDE5B5FA91B6}"/>
    <dgm:cxn modelId="{CDDAD381-C3F1-42EE-86FC-7DF5482D5972}" type="presOf" srcId="{4B7C70DA-5DA5-4D7C-95E5-02B5A4421453}" destId="{2BBF56BD-899A-4D20-A424-668D8326E21A}" srcOrd="0" destOrd="0" presId="urn:microsoft.com/office/officeart/2005/8/layout/vList2"/>
    <dgm:cxn modelId="{99F50C86-2C59-4C90-A8D6-A375094F89E8}" srcId="{30DCBDEE-D072-4E9F-A621-DF190C65117B}" destId="{770BFB3C-1D0D-4C0C-89FD-B70C5B350BE0}" srcOrd="2" destOrd="0" parTransId="{615CDA9D-82A1-42BC-B026-A9833DFE2667}" sibTransId="{7A58219F-8A4B-4857-A262-7230830F5CD2}"/>
    <dgm:cxn modelId="{7EE1EF8B-B3F5-4597-8E2B-199256EEBA36}" type="presOf" srcId="{3A3204AD-6F03-42D9-9755-5FEEE4BC393B}" destId="{35CC3A47-F475-4A61-864A-AAE1D7C03A19}" srcOrd="0" destOrd="0" presId="urn:microsoft.com/office/officeart/2005/8/layout/vList2"/>
    <dgm:cxn modelId="{8195729B-72A7-4124-BCE3-A0A6BD6B5475}" type="presOf" srcId="{00268D5B-9189-4589-9EFC-D7F2CDF220D4}" destId="{646BE3E7-5E31-4AB1-8894-A390436DC426}" srcOrd="0" destOrd="0" presId="urn:microsoft.com/office/officeart/2005/8/layout/vList2"/>
    <dgm:cxn modelId="{C66276A6-AFA7-4F4D-8607-6B83765F55E5}" srcId="{62FBA95F-C109-4E64-BE49-849123BBC14E}" destId="{5A48B824-733E-4569-AACB-81EF75833DEE}" srcOrd="0" destOrd="0" parTransId="{BB80B168-EF60-4F64-830F-6932A6E1ACD8}" sibTransId="{0FE87F00-A92E-449F-BFD5-7873A464C258}"/>
    <dgm:cxn modelId="{908913E2-2B98-4A8E-95CE-FB11180A5F6A}" srcId="{30DCBDEE-D072-4E9F-A621-DF190C65117B}" destId="{62FBA95F-C109-4E64-BE49-849123BBC14E}" srcOrd="1" destOrd="0" parTransId="{AEEEBC31-60EF-474A-B291-249E40C25CAC}" sibTransId="{802F3AF5-1A69-43B2-91A4-28148BEB6B51}"/>
    <dgm:cxn modelId="{B10B40E2-2A2B-47E3-BA4E-AD7EB07F5837}" type="presOf" srcId="{D5385BE2-F59F-406E-94F0-5EBDB0D1DEB2}" destId="{9D64D6D0-CC35-4BDF-A817-4CB596C2399F}" srcOrd="0" destOrd="0" presId="urn:microsoft.com/office/officeart/2005/8/layout/vList2"/>
    <dgm:cxn modelId="{3EDBB09E-470D-4FE4-BBE8-3E39A60401F3}" type="presParOf" srcId="{BDFDCCE1-5AFE-48C0-AEF3-E9354A692D25}" destId="{2BBF56BD-899A-4D20-A424-668D8326E21A}" srcOrd="0" destOrd="0" presId="urn:microsoft.com/office/officeart/2005/8/layout/vList2"/>
    <dgm:cxn modelId="{FF32114B-B52F-4D98-A4F5-15D19BA18A00}" type="presParOf" srcId="{BDFDCCE1-5AFE-48C0-AEF3-E9354A692D25}" destId="{9D64D6D0-CC35-4BDF-A817-4CB596C2399F}" srcOrd="1" destOrd="0" presId="urn:microsoft.com/office/officeart/2005/8/layout/vList2"/>
    <dgm:cxn modelId="{554A65B1-6BA4-430B-B6F6-45956586F617}" type="presParOf" srcId="{BDFDCCE1-5AFE-48C0-AEF3-E9354A692D25}" destId="{05522676-1059-4F70-BE86-56D1EF962847}" srcOrd="2" destOrd="0" presId="urn:microsoft.com/office/officeart/2005/8/layout/vList2"/>
    <dgm:cxn modelId="{7C438289-A1D4-4CB0-AE8B-6B518E54A6D3}" type="presParOf" srcId="{BDFDCCE1-5AFE-48C0-AEF3-E9354A692D25}" destId="{7EE90DA2-74B0-424F-90E8-3EC2EEEC5374}" srcOrd="3" destOrd="0" presId="urn:microsoft.com/office/officeart/2005/8/layout/vList2"/>
    <dgm:cxn modelId="{CC33C8E6-0B0A-499A-826A-7C49827A4DAE}" type="presParOf" srcId="{BDFDCCE1-5AFE-48C0-AEF3-E9354A692D25}" destId="{CF0C6FB9-2D66-4364-B489-BE5CDD084808}" srcOrd="4" destOrd="0" presId="urn:microsoft.com/office/officeart/2005/8/layout/vList2"/>
    <dgm:cxn modelId="{3D611C94-98E4-4923-95B8-05B1ED5BBDB7}" type="presParOf" srcId="{BDFDCCE1-5AFE-48C0-AEF3-E9354A692D25}" destId="{35CC3A47-F475-4A61-864A-AAE1D7C03A19}" srcOrd="5" destOrd="0" presId="urn:microsoft.com/office/officeart/2005/8/layout/vList2"/>
    <dgm:cxn modelId="{8524ACCA-6DEE-4ED3-AEFC-CB493340D6AE}" type="presParOf" srcId="{BDFDCCE1-5AFE-48C0-AEF3-E9354A692D25}" destId="{66F906D0-B632-498D-8E3F-A353DD16B239}" srcOrd="6" destOrd="0" presId="urn:microsoft.com/office/officeart/2005/8/layout/vList2"/>
    <dgm:cxn modelId="{D309B1A5-5E62-4ED9-9CB6-FD7AC933436B}" type="presParOf" srcId="{BDFDCCE1-5AFE-48C0-AEF3-E9354A692D25}" destId="{646BE3E7-5E31-4AB1-8894-A390436DC426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BED967-5917-4241-83BA-A3F9AE7277A8}">
      <dsp:nvSpPr>
        <dsp:cNvPr id="0" name=""/>
        <dsp:cNvSpPr/>
      </dsp:nvSpPr>
      <dsp:spPr>
        <a:xfrm>
          <a:off x="1261" y="1295156"/>
          <a:ext cx="2952236" cy="14761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1183 </a:t>
          </a:r>
          <a:r>
            <a:rPr lang="en-US" sz="3300" kern="1200" dirty="0" err="1"/>
            <a:t>ansökningar</a:t>
          </a:r>
          <a:r>
            <a:rPr lang="en-US" sz="3300" kern="1200" dirty="0"/>
            <a:t> med </a:t>
          </a:r>
          <a:r>
            <a:rPr lang="en-US" sz="3300" kern="1200" dirty="0" err="1"/>
            <a:t>beslut</a:t>
          </a:r>
          <a:endParaRPr lang="en-US" sz="3300" kern="1200" dirty="0"/>
        </a:p>
      </dsp:txBody>
      <dsp:txXfrm>
        <a:off x="44495" y="1338390"/>
        <a:ext cx="2865768" cy="1389650"/>
      </dsp:txXfrm>
    </dsp:sp>
    <dsp:sp modelId="{54AC0B09-C029-4ECD-A71A-66983199798E}">
      <dsp:nvSpPr>
        <dsp:cNvPr id="0" name=""/>
        <dsp:cNvSpPr/>
      </dsp:nvSpPr>
      <dsp:spPr>
        <a:xfrm>
          <a:off x="3691556" y="1295156"/>
          <a:ext cx="2952236" cy="14761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462 beviljade (39%)</a:t>
          </a:r>
        </a:p>
      </dsp:txBody>
      <dsp:txXfrm>
        <a:off x="3734790" y="1338390"/>
        <a:ext cx="2865768" cy="1389650"/>
      </dsp:txXfrm>
    </dsp:sp>
    <dsp:sp modelId="{48236088-CDBD-485C-9F8E-6F29ED1632E0}">
      <dsp:nvSpPr>
        <dsp:cNvPr id="0" name=""/>
        <dsp:cNvSpPr/>
      </dsp:nvSpPr>
      <dsp:spPr>
        <a:xfrm>
          <a:off x="7381852" y="1295156"/>
          <a:ext cx="2952236" cy="14761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41910" rIns="62865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721 avslag (61%)</a:t>
          </a:r>
        </a:p>
      </dsp:txBody>
      <dsp:txXfrm>
        <a:off x="7425086" y="1338390"/>
        <a:ext cx="2865768" cy="13896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CF5ECE-C0AF-4E15-9A18-2C409A7FFAF2}">
      <dsp:nvSpPr>
        <dsp:cNvPr id="0" name=""/>
        <dsp:cNvSpPr/>
      </dsp:nvSpPr>
      <dsp:spPr>
        <a:xfrm>
          <a:off x="714501" y="2410"/>
          <a:ext cx="3172491" cy="1903494"/>
        </a:xfrm>
        <a:prstGeom prst="rect">
          <a:avLst/>
        </a:prstGeom>
        <a:gradFill flip="none" rotWithShape="0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2500" b="1" kern="1200" dirty="0"/>
            <a:t>Konkurrens: </a:t>
          </a:r>
          <a:r>
            <a:rPr lang="sv-SE" sz="2500" kern="1200" dirty="0"/>
            <a:t>beviljandegrad per område, län, sun5 och huvudman</a:t>
          </a:r>
        </a:p>
      </dsp:txBody>
      <dsp:txXfrm>
        <a:off x="714501" y="2410"/>
        <a:ext cx="3172491" cy="1903494"/>
      </dsp:txXfrm>
    </dsp:sp>
    <dsp:sp modelId="{E946961F-BAE1-45B0-BC7B-CF8F033C8DC0}">
      <dsp:nvSpPr>
        <dsp:cNvPr id="0" name=""/>
        <dsp:cNvSpPr/>
      </dsp:nvSpPr>
      <dsp:spPr>
        <a:xfrm>
          <a:off x="4204242" y="2410"/>
          <a:ext cx="3172491" cy="1903494"/>
        </a:xfrm>
        <a:prstGeom prst="rect">
          <a:avLst/>
        </a:prstGeom>
        <a:gradFill flip="none" rotWithShape="0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2500" b="1" kern="1200" dirty="0"/>
            <a:t>Frågor: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2500" b="1" kern="1200" dirty="0"/>
            <a:t> </a:t>
          </a:r>
          <a:r>
            <a:rPr lang="sv-SE" sz="2500" kern="1200" dirty="0"/>
            <a:t>Vad godkänns, inom vilka områden och i vilka län?</a:t>
          </a:r>
        </a:p>
      </dsp:txBody>
      <dsp:txXfrm>
        <a:off x="4204242" y="2410"/>
        <a:ext cx="3172491" cy="1903494"/>
      </dsp:txXfrm>
    </dsp:sp>
    <dsp:sp modelId="{A61C7864-5F88-47D3-8933-4E2BCB160DC9}">
      <dsp:nvSpPr>
        <dsp:cNvPr id="0" name=""/>
        <dsp:cNvSpPr/>
      </dsp:nvSpPr>
      <dsp:spPr>
        <a:xfrm>
          <a:off x="714501" y="2223154"/>
          <a:ext cx="3172491" cy="1903494"/>
        </a:xfrm>
        <a:prstGeom prst="rect">
          <a:avLst/>
        </a:prstGeom>
        <a:gradFill flip="none" rotWithShape="0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2500" b="1" kern="1200" dirty="0"/>
            <a:t>Mål:</a:t>
          </a:r>
          <a:r>
            <a:rPr lang="sv-SE" sz="2500" kern="1200" dirty="0"/>
            <a:t> 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2500" kern="1200" dirty="0"/>
            <a:t>2-3 godkända utbildningar som ny aktör, gärna med flera starter</a:t>
          </a:r>
        </a:p>
      </dsp:txBody>
      <dsp:txXfrm>
        <a:off x="714501" y="2223154"/>
        <a:ext cx="3172491" cy="1903494"/>
      </dsp:txXfrm>
    </dsp:sp>
    <dsp:sp modelId="{84A18330-C4DF-4C13-A31F-618CD2C2322D}">
      <dsp:nvSpPr>
        <dsp:cNvPr id="0" name=""/>
        <dsp:cNvSpPr/>
      </dsp:nvSpPr>
      <dsp:spPr>
        <a:xfrm>
          <a:off x="4204242" y="2223154"/>
          <a:ext cx="3172491" cy="1903494"/>
        </a:xfrm>
        <a:prstGeom prst="rect">
          <a:avLst/>
        </a:prstGeom>
        <a:gradFill flip="none" rotWithShape="0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2500" kern="1200" dirty="0"/>
            <a:t>Söker enkla insteg i nischer, distans eller platsbunden</a:t>
          </a:r>
          <a:endParaRPr lang="en-SE" sz="2500" kern="1200" dirty="0"/>
        </a:p>
      </dsp:txBody>
      <dsp:txXfrm>
        <a:off x="4204242" y="2223154"/>
        <a:ext cx="3172491" cy="19034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F56BD-899A-4D20-A424-668D8326E21A}">
      <dsp:nvSpPr>
        <dsp:cNvPr id="0" name=""/>
        <dsp:cNvSpPr/>
      </dsp:nvSpPr>
      <dsp:spPr>
        <a:xfrm>
          <a:off x="0" y="159273"/>
          <a:ext cx="8128000" cy="761670"/>
        </a:xfrm>
        <a:prstGeom prst="roundRect">
          <a:avLst/>
        </a:prstGeom>
        <a:solidFill>
          <a:srgbClr val="6E7868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3100" kern="1200" dirty="0"/>
            <a:t>Undvik bred Data/IT</a:t>
          </a:r>
          <a:endParaRPr lang="en-SE" sz="3100" kern="1200" dirty="0"/>
        </a:p>
      </dsp:txBody>
      <dsp:txXfrm>
        <a:off x="37182" y="196455"/>
        <a:ext cx="8053636" cy="687306"/>
      </dsp:txXfrm>
    </dsp:sp>
    <dsp:sp modelId="{9D64D6D0-CC35-4BDF-A817-4CB596C2399F}">
      <dsp:nvSpPr>
        <dsp:cNvPr id="0" name=""/>
        <dsp:cNvSpPr/>
      </dsp:nvSpPr>
      <dsp:spPr>
        <a:xfrm>
          <a:off x="0" y="920943"/>
          <a:ext cx="8128000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sv-SE" sz="2400" kern="1200" dirty="0"/>
            <a:t>Bara 14% beviljas. Webbutveckling och IT-projektledning: 0 av 44</a:t>
          </a:r>
          <a:endParaRPr lang="en-SE" sz="2400" kern="1200" dirty="0"/>
        </a:p>
      </dsp:txBody>
      <dsp:txXfrm>
        <a:off x="0" y="920943"/>
        <a:ext cx="8128000" cy="513360"/>
      </dsp:txXfrm>
    </dsp:sp>
    <dsp:sp modelId="{05522676-1059-4F70-BE86-56D1EF962847}">
      <dsp:nvSpPr>
        <dsp:cNvPr id="0" name=""/>
        <dsp:cNvSpPr/>
      </dsp:nvSpPr>
      <dsp:spPr>
        <a:xfrm>
          <a:off x="0" y="1434303"/>
          <a:ext cx="8128000" cy="761670"/>
        </a:xfrm>
        <a:prstGeom prst="roundRect">
          <a:avLst/>
        </a:prstGeom>
        <a:solidFill>
          <a:srgbClr val="6E7868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3100" kern="1200" dirty="0"/>
            <a:t>Satsa på platsbundet inom vård, teknik och lantbruk</a:t>
          </a:r>
          <a:endParaRPr lang="en-SE" sz="3100" kern="1200" dirty="0"/>
        </a:p>
      </dsp:txBody>
      <dsp:txXfrm>
        <a:off x="37182" y="1471485"/>
        <a:ext cx="8053636" cy="687306"/>
      </dsp:txXfrm>
    </dsp:sp>
    <dsp:sp modelId="{7EE90DA2-74B0-424F-90E8-3EC2EEEC5374}">
      <dsp:nvSpPr>
        <dsp:cNvPr id="0" name=""/>
        <dsp:cNvSpPr/>
      </dsp:nvSpPr>
      <dsp:spPr>
        <a:xfrm>
          <a:off x="0" y="2195973"/>
          <a:ext cx="8128000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sv-SE" sz="2400" kern="1200" dirty="0"/>
            <a:t>Högst beviljandegrad bland de större områdena.</a:t>
          </a:r>
          <a:endParaRPr lang="en-SE" sz="2400" kern="1200" dirty="0"/>
        </a:p>
      </dsp:txBody>
      <dsp:txXfrm>
        <a:off x="0" y="2195973"/>
        <a:ext cx="8128000" cy="513360"/>
      </dsp:txXfrm>
    </dsp:sp>
    <dsp:sp modelId="{CF0C6FB9-2D66-4364-B489-BE5CDD084808}">
      <dsp:nvSpPr>
        <dsp:cNvPr id="0" name=""/>
        <dsp:cNvSpPr/>
      </dsp:nvSpPr>
      <dsp:spPr>
        <a:xfrm>
          <a:off x="0" y="2709333"/>
          <a:ext cx="8128000" cy="761670"/>
        </a:xfrm>
        <a:prstGeom prst="roundRect">
          <a:avLst/>
        </a:prstGeom>
        <a:solidFill>
          <a:srgbClr val="6E7868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3100" kern="1200" dirty="0"/>
            <a:t>Planera för cirka fyra starter</a:t>
          </a:r>
          <a:endParaRPr lang="en-SE" sz="3100" kern="1200" dirty="0"/>
        </a:p>
      </dsp:txBody>
      <dsp:txXfrm>
        <a:off x="37182" y="2746515"/>
        <a:ext cx="8053636" cy="687306"/>
      </dsp:txXfrm>
    </dsp:sp>
    <dsp:sp modelId="{35CC3A47-F475-4A61-864A-AAE1D7C03A19}">
      <dsp:nvSpPr>
        <dsp:cNvPr id="0" name=""/>
        <dsp:cNvSpPr/>
      </dsp:nvSpPr>
      <dsp:spPr>
        <a:xfrm>
          <a:off x="0" y="3471003"/>
          <a:ext cx="8128000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sv-SE" sz="2400" kern="1200" dirty="0"/>
            <a:t>Högst beviljandegrad  (58%) och passar målet om flera starter.</a:t>
          </a:r>
          <a:endParaRPr lang="en-SE" sz="2400" kern="1200" dirty="0"/>
        </a:p>
      </dsp:txBody>
      <dsp:txXfrm>
        <a:off x="0" y="3471003"/>
        <a:ext cx="8128000" cy="513360"/>
      </dsp:txXfrm>
    </dsp:sp>
    <dsp:sp modelId="{66F906D0-B632-498D-8E3F-A353DD16B239}">
      <dsp:nvSpPr>
        <dsp:cNvPr id="0" name=""/>
        <dsp:cNvSpPr/>
      </dsp:nvSpPr>
      <dsp:spPr>
        <a:xfrm>
          <a:off x="0" y="3984363"/>
          <a:ext cx="8128000" cy="761670"/>
        </a:xfrm>
        <a:prstGeom prst="roundRect">
          <a:avLst/>
        </a:prstGeom>
        <a:solidFill>
          <a:srgbClr val="6E7868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3100" kern="1200" dirty="0"/>
            <a:t>Lär av kommunala anordnare</a:t>
          </a:r>
          <a:endParaRPr lang="en-SE" sz="3100" kern="1200" dirty="0"/>
        </a:p>
      </dsp:txBody>
      <dsp:txXfrm>
        <a:off x="37182" y="4021545"/>
        <a:ext cx="8053636" cy="687306"/>
      </dsp:txXfrm>
    </dsp:sp>
    <dsp:sp modelId="{646BE3E7-5E31-4AB1-8894-A390436DC426}">
      <dsp:nvSpPr>
        <dsp:cNvPr id="0" name=""/>
        <dsp:cNvSpPr/>
      </dsp:nvSpPr>
      <dsp:spPr>
        <a:xfrm>
          <a:off x="0" y="4746033"/>
          <a:ext cx="8128000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sv-SE" sz="2400" kern="1200" dirty="0"/>
            <a:t>De lyckas bäst i teknik och vård</a:t>
          </a:r>
          <a:endParaRPr lang="en-SE" sz="2400" kern="1200" dirty="0"/>
        </a:p>
      </dsp:txBody>
      <dsp:txXfrm>
        <a:off x="0" y="4746033"/>
        <a:ext cx="8128000" cy="513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8029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344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61649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49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9583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803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1543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0958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379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4123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3604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82821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2019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3711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22940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3531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73431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8380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856895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8469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87462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327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517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906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70110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56597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6356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08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  <p:sldLayoutId id="2147483748" r:id="rId18"/>
    <p:sldLayoutId id="2147483749" r:id="rId19"/>
    <p:sldLayoutId id="2147483750" r:id="rId20"/>
    <p:sldLayoutId id="2147483751" r:id="rId21"/>
    <p:sldLayoutId id="2147483752" r:id="rId22"/>
    <p:sldLayoutId id="2147483753" r:id="rId23"/>
    <p:sldLayoutId id="2147483754" r:id="rId24"/>
    <p:sldLayoutId id="2147483755" r:id="rId25"/>
    <p:sldLayoutId id="2147483756" r:id="rId26"/>
    <p:sldLayoutId id="2147483757" r:id="rId27"/>
  </p:sldLayoutIdLst>
  <p:hf sldNum="0" hdr="0" ft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Hand holding flower">
            <a:extLst>
              <a:ext uri="{FF2B5EF4-FFF2-40B4-BE49-F238E27FC236}">
                <a16:creationId xmlns:a16="http://schemas.microsoft.com/office/drawing/2014/main" id="{FF0C3870-BAF3-4CBE-FF5C-3416A801EC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730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8CA87-2DA9-FEF3-98AF-6B8545A10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sv-SE" sz="540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Skool: var ska vi satsa?</a:t>
            </a:r>
            <a:endParaRPr lang="en-SE" sz="5400">
              <a:ln>
                <a:solidFill>
                  <a:schemeClr val="bg1"/>
                </a:solidFill>
              </a:ln>
              <a:solidFill>
                <a:srgbClr val="FFFFFF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08E81-8D73-8E73-6E83-69018161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  <a:noFill/>
        </p:spPr>
        <p:txBody>
          <a:bodyPr>
            <a:normAutofit/>
          </a:bodyPr>
          <a:lstStyle/>
          <a:p>
            <a:r>
              <a:rPr lang="sv-SE" sz="2200" dirty="0">
                <a:ln>
                  <a:solidFill>
                    <a:schemeClr val="bg1">
                      <a:alpha val="68000"/>
                    </a:schemeClr>
                  </a:solidFill>
                </a:ln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Datadrivet beslutsstöd från MYH:s ansökningsomgång 2025</a:t>
            </a:r>
            <a:endParaRPr lang="en-SE" sz="2200" dirty="0">
              <a:ln>
                <a:solidFill>
                  <a:schemeClr val="bg1">
                    <a:alpha val="68000"/>
                  </a:schemeClr>
                </a:solidFill>
              </a:ln>
              <a:solidFill>
                <a:srgbClr val="FFFFFF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D9090-291E-1119-772A-95CB49835F8C}"/>
              </a:ext>
            </a:extLst>
          </p:cNvPr>
          <p:cNvSpPr txBox="1"/>
          <p:nvPr/>
        </p:nvSpPr>
        <p:spPr>
          <a:xfrm>
            <a:off x="9472281" y="6488668"/>
            <a:ext cx="2719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sv-SE" dirty="0">
                <a:ln>
                  <a:solidFill>
                    <a:schemeClr val="bg1">
                      <a:alpha val="75000"/>
                    </a:schemeClr>
                  </a:solidFill>
                </a:ln>
                <a:latin typeface="Helvetica" panose="020B0604020202020204" pitchFamily="34" charset="0"/>
                <a:cs typeface="Helvetica" panose="020B0604020202020204" pitchFamily="34" charset="0"/>
              </a:rPr>
              <a:t>Marko Tadic, SQL1 2026</a:t>
            </a:r>
            <a:endParaRPr lang="en-SE" dirty="0">
              <a:ln>
                <a:solidFill>
                  <a:schemeClr val="bg1">
                    <a:alpha val="75000"/>
                  </a:schemeClr>
                </a:solidFill>
              </a:ln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592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73191-07C5-1D61-3F5E-81FAC408E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sv-SE"/>
              <a:t>Utgångsläget: fyra av tio ansökningar beviljas</a:t>
            </a:r>
            <a:endParaRPr lang="en-SE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E253ABC5-AA6D-B0F1-15B4-8545891198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1601919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A5B0AF3-F8E8-4754-EDBF-DC0EE2CB36AF}"/>
              </a:ext>
            </a:extLst>
          </p:cNvPr>
          <p:cNvSpPr txBox="1"/>
          <p:nvPr/>
        </p:nvSpPr>
        <p:spPr>
          <a:xfrm>
            <a:off x="3928112" y="6265460"/>
            <a:ext cx="921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Privata aktörer står för 83% av ansökningarna. En återkallad ansökan är undantagen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774693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AC270-2392-4711-29DF-9E6E7AD23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52" y="3048041"/>
            <a:ext cx="4000500" cy="761915"/>
          </a:xfrm>
        </p:spPr>
        <p:txBody>
          <a:bodyPr>
            <a:normAutofit fontScale="90000"/>
          </a:bodyPr>
          <a:lstStyle/>
          <a:p>
            <a:r>
              <a:rPr lang="sv-SE" sz="2600" dirty="0"/>
              <a:t>Intervjun: The Skool vill pricka rätt, inte skjuta vilt</a:t>
            </a:r>
            <a:br>
              <a:rPr lang="sv-SE" sz="2600" dirty="0"/>
            </a:br>
            <a:endParaRPr lang="en-SE" sz="26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C9EC433-A51C-4727-F399-2A926E5F56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8296531"/>
              </p:ext>
            </p:extLst>
          </p:nvPr>
        </p:nvGraphicFramePr>
        <p:xfrm>
          <a:off x="3567364" y="1364470"/>
          <a:ext cx="8091236" cy="4129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4342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7FE45-BA5D-4463-CCFC-076CB2FB3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391" y="697830"/>
            <a:ext cx="3272589" cy="1868557"/>
          </a:xfrm>
        </p:spPr>
        <p:txBody>
          <a:bodyPr>
            <a:normAutofit/>
          </a:bodyPr>
          <a:lstStyle/>
          <a:p>
            <a:r>
              <a:rPr lang="sv-SE" dirty="0"/>
              <a:t>Data/IT: bara 14% beviljas, lägst av de stora områdena</a:t>
            </a:r>
            <a:endParaRPr lang="en-SE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6755678-3FAA-44AC-56D8-6F88424049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1186475"/>
              </p:ext>
            </p:extLst>
          </p:nvPr>
        </p:nvGraphicFramePr>
        <p:xfrm>
          <a:off x="3801980" y="442940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5A5480B-D777-87B3-60F5-197859664D62}"/>
              </a:ext>
            </a:extLst>
          </p:cNvPr>
          <p:cNvSpPr txBox="1"/>
          <p:nvPr/>
        </p:nvSpPr>
        <p:spPr>
          <a:xfrm>
            <a:off x="529391" y="2384076"/>
            <a:ext cx="3128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Hård konkurrens gör Data/IT riskabelt för en ny aktör. </a:t>
            </a:r>
            <a:endParaRPr lang="en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73C7F1-1D8E-5E3A-3DD5-F8B3EAAEE080}"/>
              </a:ext>
            </a:extLst>
          </p:cNvPr>
          <p:cNvSpPr txBox="1"/>
          <p:nvPr/>
        </p:nvSpPr>
        <p:spPr>
          <a:xfrm>
            <a:off x="5354052" y="6230394"/>
            <a:ext cx="6083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Beviljandegrad per område, antal ansökningar inom parantes (minst 20)</a:t>
            </a:r>
            <a:endParaRPr lang="en-S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CFB88C-533A-BB00-5F22-CFC812DF0394}"/>
              </a:ext>
            </a:extLst>
          </p:cNvPr>
          <p:cNvSpPr txBox="1"/>
          <p:nvPr/>
        </p:nvSpPr>
        <p:spPr>
          <a:xfrm>
            <a:off x="529392" y="3244334"/>
            <a:ext cx="3031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Vård och teknik beviljas till lite mer än 50%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4072276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40F50-1410-AA4C-572D-5A6F71D15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938462"/>
            <a:ext cx="3429000" cy="1868557"/>
          </a:xfrm>
        </p:spPr>
        <p:txBody>
          <a:bodyPr/>
          <a:lstStyle/>
          <a:p>
            <a:r>
              <a:rPr lang="sv-SE" dirty="0"/>
              <a:t>Högst andel i små län, tuffast i stockholm</a:t>
            </a:r>
            <a:endParaRPr lang="en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029CFA-CA6E-D94E-E1C8-0F3F20D53CC4}"/>
              </a:ext>
            </a:extLst>
          </p:cNvPr>
          <p:cNvSpPr txBox="1"/>
          <p:nvPr/>
        </p:nvSpPr>
        <p:spPr>
          <a:xfrm>
            <a:off x="7543800" y="6242426"/>
            <a:ext cx="3967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Ansökningar i flera kommuner är exkluderade</a:t>
            </a:r>
            <a:endParaRPr lang="en-SE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BA113A1A-9319-B4C8-403A-451014F27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0420112"/>
              </p:ext>
            </p:extLst>
          </p:nvPr>
        </p:nvGraphicFramePr>
        <p:xfrm>
          <a:off x="4064000" y="599350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F8DA49E-46AC-C214-1CFB-5B7E3AB18FC3}"/>
              </a:ext>
            </a:extLst>
          </p:cNvPr>
          <p:cNvSpPr txBox="1"/>
          <p:nvPr/>
        </p:nvSpPr>
        <p:spPr>
          <a:xfrm>
            <a:off x="635000" y="2622353"/>
            <a:ext cx="29624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Stockholm har flest ansökningar (273) men bara 33% beviljas. Värmland och Kronoberg ligger högt, men på få ansökningar.</a:t>
            </a:r>
          </a:p>
        </p:txBody>
      </p:sp>
    </p:spTree>
    <p:extLst>
      <p:ext uri="{BB962C8B-B14F-4D97-AF65-F5344CB8AC3E}">
        <p14:creationId xmlns:p14="http://schemas.microsoft.com/office/powerpoint/2010/main" val="1109173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A1DC9-0F71-F347-4D2A-577A2CF4E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538" y="1873266"/>
            <a:ext cx="3429000" cy="1868557"/>
          </a:xfrm>
        </p:spPr>
        <p:txBody>
          <a:bodyPr>
            <a:normAutofit fontScale="90000"/>
          </a:bodyPr>
          <a:lstStyle/>
          <a:p>
            <a:r>
              <a:rPr lang="sv-SE" dirty="0"/>
              <a:t>Distans beviljas mer sällan än platsbunden, även utan Data/it</a:t>
            </a:r>
            <a:endParaRPr lang="en-SE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1A723CE-254F-9438-1D78-DC6D978396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1454313"/>
              </p:ext>
            </p:extLst>
          </p:nvPr>
        </p:nvGraphicFramePr>
        <p:xfrm>
          <a:off x="3760538" y="358719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696AF42-BF00-157B-B7E3-3FCA6C5C34D9}"/>
              </a:ext>
            </a:extLst>
          </p:cNvPr>
          <p:cNvSpPr txBox="1"/>
          <p:nvPr/>
        </p:nvSpPr>
        <p:spPr>
          <a:xfrm>
            <a:off x="204538" y="3741823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Bara 4 av 54 distansansökningar inom Data/IT beviljades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480642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76C7C-56B4-0167-A8CC-871EA240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737" y="1175431"/>
            <a:ext cx="3429000" cy="1868557"/>
          </a:xfrm>
        </p:spPr>
        <p:txBody>
          <a:bodyPr>
            <a:noAutofit/>
          </a:bodyPr>
          <a:lstStyle/>
          <a:p>
            <a:r>
              <a:rPr lang="sv-SE" sz="3200" dirty="0"/>
              <a:t>Kommunala sökande lyckas bäst i teknik och vård</a:t>
            </a:r>
            <a:endParaRPr lang="en-SE" sz="32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6462C4A-DF76-4E89-2B21-B993ACEDDD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647288"/>
              </p:ext>
            </p:extLst>
          </p:nvPr>
        </p:nvGraphicFramePr>
        <p:xfrm>
          <a:off x="3920958" y="334655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B4FA56-1D65-B931-C002-33C137D46E39}"/>
              </a:ext>
            </a:extLst>
          </p:cNvPr>
          <p:cNvSpPr txBox="1"/>
          <p:nvPr/>
        </p:nvSpPr>
        <p:spPr>
          <a:xfrm>
            <a:off x="661737" y="3429000"/>
            <a:ext cx="29116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Stora gap i teknik och vård. Ekonomi är det jämt medan samhällsbyggnad så lyckas privata bättre.</a:t>
            </a:r>
            <a:endParaRPr lang="en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6FC404-B417-629C-4A19-985AC94D2125}"/>
              </a:ext>
            </a:extLst>
          </p:cNvPr>
          <p:cNvSpPr txBox="1"/>
          <p:nvPr/>
        </p:nvSpPr>
        <p:spPr>
          <a:xfrm>
            <a:off x="7663994" y="6215568"/>
            <a:ext cx="3850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Områden med minst 10 ansökningar per huvudmannatyp</a:t>
            </a:r>
            <a:endParaRPr lang="en-SE" sz="1400" dirty="0"/>
          </a:p>
        </p:txBody>
      </p:sp>
    </p:spTree>
    <p:extLst>
      <p:ext uri="{BB962C8B-B14F-4D97-AF65-F5344CB8AC3E}">
        <p14:creationId xmlns:p14="http://schemas.microsoft.com/office/powerpoint/2010/main" val="3710632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2EF4-A2A4-A53E-6C7B-824649EF9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664" y="1008425"/>
            <a:ext cx="3429000" cy="1868557"/>
          </a:xfrm>
        </p:spPr>
        <p:txBody>
          <a:bodyPr>
            <a:normAutofit/>
          </a:bodyPr>
          <a:lstStyle/>
          <a:p>
            <a:r>
              <a:rPr lang="sv-SE" dirty="0"/>
              <a:t>Fyra starter har högst beviljandegrad</a:t>
            </a:r>
            <a:endParaRPr lang="en-SE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D50681B-B5AA-28E2-F949-AABAC7B8C1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61339"/>
              </p:ext>
            </p:extLst>
          </p:nvPr>
        </p:nvGraphicFramePr>
        <p:xfrm>
          <a:off x="3808664" y="430908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1E8F43C-0725-41EA-E421-303FB7D80BAA}"/>
              </a:ext>
            </a:extLst>
          </p:cNvPr>
          <p:cNvSpPr txBox="1"/>
          <p:nvPr/>
        </p:nvSpPr>
        <p:spPr>
          <a:xfrm>
            <a:off x="379665" y="2692315"/>
            <a:ext cx="3109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Flest ansökningar om 3 utbildningsomgångar.</a:t>
            </a:r>
          </a:p>
          <a:p>
            <a:endParaRPr lang="sv-SE" dirty="0"/>
          </a:p>
          <a:p>
            <a:r>
              <a:rPr lang="sv-SE" dirty="0"/>
              <a:t>1-2 starter är små jämfört med 3+</a:t>
            </a:r>
            <a:endParaRPr lang="en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3218A1-0F54-9B0D-92B1-0A9054BA17D8}"/>
              </a:ext>
            </a:extLst>
          </p:cNvPr>
          <p:cNvSpPr txBox="1"/>
          <p:nvPr/>
        </p:nvSpPr>
        <p:spPr>
          <a:xfrm>
            <a:off x="8398041" y="6288592"/>
            <a:ext cx="3203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/>
              <a:t>Antal ansökningar om utbildningsomgångar i parantes</a:t>
            </a:r>
            <a:endParaRPr lang="en-SE" sz="1200" dirty="0"/>
          </a:p>
        </p:txBody>
      </p:sp>
    </p:spTree>
    <p:extLst>
      <p:ext uri="{BB962C8B-B14F-4D97-AF65-F5344CB8AC3E}">
        <p14:creationId xmlns:p14="http://schemas.microsoft.com/office/powerpoint/2010/main" val="4275324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7459-3252-2E1B-0E41-C00222B18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916" y="830179"/>
            <a:ext cx="2899609" cy="1868557"/>
          </a:xfrm>
        </p:spPr>
        <p:txBody>
          <a:bodyPr>
            <a:normAutofit fontScale="90000"/>
          </a:bodyPr>
          <a:lstStyle/>
          <a:p>
            <a:r>
              <a:rPr lang="sv-SE" dirty="0"/>
              <a:t>Nischer med hög beviljandegrad finns, främst inom vård och teknik</a:t>
            </a:r>
            <a:endParaRPr lang="en-SE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D895B4A-E8DD-96F6-1BF7-66A61DAA64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4348774"/>
              </p:ext>
            </p:extLst>
          </p:nvPr>
        </p:nvGraphicFramePr>
        <p:xfrm>
          <a:off x="3248525" y="406846"/>
          <a:ext cx="847023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E499607-E6E3-B5F4-A11C-50FE9E554A51}"/>
              </a:ext>
            </a:extLst>
          </p:cNvPr>
          <p:cNvSpPr txBox="1"/>
          <p:nvPr/>
        </p:nvSpPr>
        <p:spPr>
          <a:xfrm>
            <a:off x="473244" y="3446516"/>
            <a:ext cx="289960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800" b="1" u="sng" dirty="0">
                <a:solidFill>
                  <a:srgbClr val="E95731"/>
                </a:solidFill>
              </a:rPr>
              <a:t>0 beviljade</a:t>
            </a:r>
          </a:p>
          <a:p>
            <a:r>
              <a:rPr lang="sv-SE" dirty="0"/>
              <a:t>Webbuvecklare: 0 av 32</a:t>
            </a:r>
          </a:p>
          <a:p>
            <a:r>
              <a:rPr lang="sv-SE" dirty="0"/>
              <a:t>Projektledare IT: 0 av 12</a:t>
            </a:r>
          </a:p>
          <a:p>
            <a:r>
              <a:rPr lang="sv-SE" dirty="0"/>
              <a:t>Löneadministratör: 0 av 11</a:t>
            </a:r>
          </a:p>
          <a:p>
            <a:r>
              <a:rPr lang="sv-SE" dirty="0"/>
              <a:t>Systemutveckling: 0 av 10</a:t>
            </a:r>
            <a:endParaRPr lang="en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7A95D6-EE13-25A1-C846-EFD91A5C9035}"/>
              </a:ext>
            </a:extLst>
          </p:cNvPr>
          <p:cNvSpPr txBox="1"/>
          <p:nvPr/>
        </p:nvSpPr>
        <p:spPr>
          <a:xfrm>
            <a:off x="7128203" y="6312654"/>
            <a:ext cx="45464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/>
              <a:t>SUN5-inriktningar med minst 8 ansökningar, antal ansökningar inom parantes.</a:t>
            </a:r>
            <a:endParaRPr lang="en-SE" sz="1200" dirty="0"/>
          </a:p>
        </p:txBody>
      </p:sp>
    </p:spTree>
    <p:extLst>
      <p:ext uri="{BB962C8B-B14F-4D97-AF65-F5344CB8AC3E}">
        <p14:creationId xmlns:p14="http://schemas.microsoft.com/office/powerpoint/2010/main" val="171861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BAAD-9F11-101D-C5FF-DE2945434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991" y="1034716"/>
            <a:ext cx="3429000" cy="2045369"/>
          </a:xfrm>
        </p:spPr>
        <p:txBody>
          <a:bodyPr>
            <a:normAutofit fontScale="90000"/>
          </a:bodyPr>
          <a:lstStyle/>
          <a:p>
            <a:r>
              <a:rPr lang="sv-SE" dirty="0"/>
              <a:t>Det varierar även bland stora anordnare</a:t>
            </a:r>
            <a:br>
              <a:rPr lang="sv-SE" dirty="0"/>
            </a:br>
            <a:r>
              <a:rPr lang="sv-SE" dirty="0"/>
              <a:t>från 3% till 76% beviljas</a:t>
            </a:r>
            <a:endParaRPr lang="en-SE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CA0D9F1-A998-CEEA-266D-2A48BE6FBF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7720085"/>
              </p:ext>
            </p:extLst>
          </p:nvPr>
        </p:nvGraphicFramePr>
        <p:xfrm>
          <a:off x="3941011" y="503098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C0779D4-790A-2F2D-F317-F95081FD1AE1}"/>
              </a:ext>
            </a:extLst>
          </p:cNvPr>
          <p:cNvSpPr txBox="1"/>
          <p:nvPr/>
        </p:nvSpPr>
        <p:spPr>
          <a:xfrm>
            <a:off x="757991" y="3244334"/>
            <a:ext cx="27431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Konkurrenterna har ingen given fördel i storlek. Lernia och Jensen har 29 ansökningar vardera men få beviljade.</a:t>
            </a:r>
            <a:endParaRPr lang="en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C5D82E-A118-CE34-B0B9-D10860B16A9A}"/>
              </a:ext>
            </a:extLst>
          </p:cNvPr>
          <p:cNvSpPr txBox="1"/>
          <p:nvPr/>
        </p:nvSpPr>
        <p:spPr>
          <a:xfrm>
            <a:off x="8193505" y="6216402"/>
            <a:ext cx="34515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/>
              <a:t>Anordnare med minst 20 ansökningar, antal inom parantes</a:t>
            </a:r>
            <a:endParaRPr lang="en-SE" sz="1200" dirty="0"/>
          </a:p>
        </p:txBody>
      </p:sp>
    </p:spTree>
    <p:extLst>
      <p:ext uri="{BB962C8B-B14F-4D97-AF65-F5344CB8AC3E}">
        <p14:creationId xmlns:p14="http://schemas.microsoft.com/office/powerpoint/2010/main" val="1599776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7B90A-1EC2-2F99-38EE-F168172A2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612" y="541420"/>
            <a:ext cx="3429000" cy="1868557"/>
          </a:xfrm>
        </p:spPr>
        <p:txBody>
          <a:bodyPr>
            <a:normAutofit fontScale="90000"/>
          </a:bodyPr>
          <a:lstStyle/>
          <a:p>
            <a:r>
              <a:rPr lang="sv-SE" dirty="0"/>
              <a:t>Bonus: ursprungstabellen bröts upp till 8 mindre tabeller</a:t>
            </a:r>
            <a:endParaRPr lang="en-S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EE49CE-4F15-9CDD-28CB-9854EC2A5395}"/>
              </a:ext>
            </a:extLst>
          </p:cNvPr>
          <p:cNvSpPr txBox="1"/>
          <p:nvPr/>
        </p:nvSpPr>
        <p:spPr>
          <a:xfrm>
            <a:off x="613612" y="2598821"/>
            <a:ext cx="3128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För att verifiera modellen så kördes samma frågor i Uppgift 1 mot de nya tabellerna</a:t>
            </a:r>
            <a:endParaRPr lang="en-S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CC5450-7EF1-837A-8086-05439E2CC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733" y="1520763"/>
            <a:ext cx="7125434" cy="30794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3BF7FE-8200-C2DF-6B6A-846A62A58356}"/>
              </a:ext>
            </a:extLst>
          </p:cNvPr>
          <p:cNvSpPr txBox="1"/>
          <p:nvPr/>
        </p:nvSpPr>
        <p:spPr>
          <a:xfrm>
            <a:off x="774033" y="6316580"/>
            <a:ext cx="11417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Mer information om exempelvis skript finns att titta på här: https://github.com/marko-tadic/the_skool_marko_tadic/tree/main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606602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AC6DE-3C9D-1C99-3F0C-04F5DBD5B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232" y="212906"/>
            <a:ext cx="7951535" cy="1868557"/>
          </a:xfrm>
        </p:spPr>
        <p:txBody>
          <a:bodyPr>
            <a:normAutofit/>
          </a:bodyPr>
          <a:lstStyle/>
          <a:p>
            <a:r>
              <a:rPr lang="sv-SE" sz="4000" dirty="0"/>
              <a:t>RekommendationER till the skool</a:t>
            </a:r>
            <a:endParaRPr lang="en-SE" sz="4000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093E3A12-45E6-5322-0ACB-CA4B74BDC1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725650"/>
              </p:ext>
            </p:extLst>
          </p:nvPr>
        </p:nvGraphicFramePr>
        <p:xfrm>
          <a:off x="1943767" y="103248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F600451-F47C-975A-39F5-A205A172A30A}"/>
              </a:ext>
            </a:extLst>
          </p:cNvPr>
          <p:cNvSpPr txBox="1"/>
          <p:nvPr/>
        </p:nvSpPr>
        <p:spPr>
          <a:xfrm>
            <a:off x="4114800" y="6281877"/>
            <a:ext cx="9372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/>
              <a:t>Datan visar inte ansökans kvalitet eller lokalt behov. LLM har använts som bollplank och felsökning. </a:t>
            </a:r>
            <a:endParaRPr lang="en-SE" sz="1600" dirty="0"/>
          </a:p>
        </p:txBody>
      </p:sp>
    </p:spTree>
    <p:extLst>
      <p:ext uri="{BB962C8B-B14F-4D97-AF65-F5344CB8AC3E}">
        <p14:creationId xmlns:p14="http://schemas.microsoft.com/office/powerpoint/2010/main" val="697610604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67725A2F7F0442AC06604293EFA9AB" ma:contentTypeVersion="4" ma:contentTypeDescription="Skapa ett nytt dokument." ma:contentTypeScope="" ma:versionID="c871f405b852bbab29c7a47f25dce1fb">
  <xsd:schema xmlns:xsd="http://www.w3.org/2001/XMLSchema" xmlns:xs="http://www.w3.org/2001/XMLSchema" xmlns:p="http://schemas.microsoft.com/office/2006/metadata/properties" xmlns:ns3="2ff7e52e-9f01-4d65-b82b-deffd009060b" targetNamespace="http://schemas.microsoft.com/office/2006/metadata/properties" ma:root="true" ma:fieldsID="5b4901b8c6100579a929a86fdd3fa971" ns3:_="">
    <xsd:import namespace="2ff7e52e-9f01-4d65-b82b-deffd009060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f7e52e-9f01-4d65-b82b-deffd009060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3B9C9C-1B2A-4CCC-A594-C11BDF8D76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f7e52e-9f01-4d65-b82b-deffd00906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1B425B2-34E1-4966-8152-8C28F18EC0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492EB0-3233-4F9D-8AE2-10507DAF0E3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200</TotalTime>
  <Words>506</Words>
  <Application>Microsoft Office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Helvetica</vt:lpstr>
      <vt:lpstr>Neue Haas Grotesk Text Pro</vt:lpstr>
      <vt:lpstr>Orange Experience</vt:lpstr>
      <vt:lpstr>The Skool: var ska vi satsa?</vt:lpstr>
      <vt:lpstr>Utgångsläget: fyra av tio ansökningar beviljas</vt:lpstr>
      <vt:lpstr>Intervjun: The Skool vill pricka rätt, inte skjuta vilt </vt:lpstr>
      <vt:lpstr>Data/IT: bara 14% beviljas, lägst av de stora områdena</vt:lpstr>
      <vt:lpstr>Högst andel i små län, tuffast i stockholm</vt:lpstr>
      <vt:lpstr>Distans beviljas mer sällan än platsbunden, även utan Data/it</vt:lpstr>
      <vt:lpstr>Kommunala sökande lyckas bäst i teknik och vård</vt:lpstr>
      <vt:lpstr>Fyra starter har högst beviljandegrad</vt:lpstr>
      <vt:lpstr>Nischer med hög beviljandegrad finns, främst inom vård och teknik</vt:lpstr>
      <vt:lpstr>Det varierar även bland stora anordnare från 3% till 76% beviljas</vt:lpstr>
      <vt:lpstr>Bonus: ursprungstabellen bröts upp till 8 mindre tabeller</vt:lpstr>
      <vt:lpstr>RekommendationER till the skool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 Tadic (student syh)</dc:creator>
  <cp:lastModifiedBy>Marko Tadic (student syh)</cp:lastModifiedBy>
  <cp:revision>1</cp:revision>
  <dcterms:created xsi:type="dcterms:W3CDTF">2026-10-30T09:59:53Z</dcterms:created>
  <dcterms:modified xsi:type="dcterms:W3CDTF">2026-10-30T13:20:39Z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0x0101001567725A2F7F0442AC06604293EFA9AB</vt:lpwstr>
  </property>
</Properties>
</file>